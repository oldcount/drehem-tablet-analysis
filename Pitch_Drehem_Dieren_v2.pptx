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252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sp>
      <p:sp>
        <p:nvSpPr>
          <p:cNvPr id="3" name="Text 1"/>
          <p:cNvSpPr/>
          <p:nvPr/>
        </p:nvSpPr>
        <p:spPr>
          <a:xfrm>
            <a:off x="731520" y="548640"/>
            <a:ext cx="7680960" cy="1280160"/>
          </a:xfrm>
          <a:prstGeom prst="rect">
            <a:avLst/>
          </a:prstGeom>
          <a:noFill/>
          <a:ln/>
        </p:spPr>
        <p:txBody>
          <a:bodyPr wrap="square" lIns="0" tIns="0" rIns="0" bIns="0" rtlCol="0" anchor="ctr"/>
          <a:lstStyle/>
          <a:p>
            <a:pPr indent="0" marL="0">
              <a:buNone/>
            </a:pPr>
            <a:r>
              <a:rPr lang="en-US" sz="7200" b="1" dirty="0">
                <a:solidFill>
                  <a:srgbClr val="B85042"/>
                </a:solidFill>
                <a:latin typeface="Georgia" pitchFamily="34" charset="0"/>
                <a:ea typeface="Georgia" pitchFamily="34" charset="-122"/>
                <a:cs typeface="Georgia" pitchFamily="34" charset="-120"/>
              </a:rPr>
              <a:t>15.000</a:t>
            </a:r>
            <a:endParaRPr lang="en-US" sz="7200" dirty="0"/>
          </a:p>
        </p:txBody>
      </p:sp>
      <p:sp>
        <p:nvSpPr>
          <p:cNvPr id="4" name="Text 2"/>
          <p:cNvSpPr/>
          <p:nvPr/>
        </p:nvSpPr>
        <p:spPr>
          <a:xfrm>
            <a:off x="731520" y="1737360"/>
            <a:ext cx="7680960" cy="640080"/>
          </a:xfrm>
          <a:prstGeom prst="rect">
            <a:avLst/>
          </a:prstGeom>
          <a:noFill/>
          <a:ln/>
        </p:spPr>
        <p:txBody>
          <a:bodyPr wrap="square" lIns="0" tIns="0" rIns="0" bIns="0" rtlCol="0" anchor="ctr"/>
          <a:lstStyle/>
          <a:p>
            <a:pPr indent="0" marL="0">
              <a:buNone/>
            </a:pPr>
            <a:r>
              <a:rPr lang="en-US" sz="2800" dirty="0">
                <a:solidFill>
                  <a:srgbClr val="F5F0E8"/>
                </a:solidFill>
                <a:latin typeface="Georgia" pitchFamily="34" charset="0"/>
                <a:ea typeface="Georgia" pitchFamily="34" charset="-122"/>
                <a:cs typeface="Georgia" pitchFamily="34" charset="-120"/>
              </a:rPr>
              <a:t>kleitabletten met dierentransacties.</a:t>
            </a:r>
            <a:endParaRPr lang="en-US" sz="2800" dirty="0"/>
          </a:p>
        </p:txBody>
      </p:sp>
      <p:sp>
        <p:nvSpPr>
          <p:cNvPr id="5" name="Text 3"/>
          <p:cNvSpPr/>
          <p:nvPr/>
        </p:nvSpPr>
        <p:spPr>
          <a:xfrm>
            <a:off x="731520" y="2651760"/>
            <a:ext cx="6400800" cy="914400"/>
          </a:xfrm>
          <a:prstGeom prst="rect">
            <a:avLst/>
          </a:prstGeom>
          <a:noFill/>
          <a:ln/>
        </p:spPr>
        <p:txBody>
          <a:bodyPr wrap="square" lIns="0" tIns="0" rIns="0" bIns="0" rtlCol="0" anchor="ctr"/>
          <a:lstStyle/>
          <a:p>
            <a:pPr indent="0" marL="0">
              <a:buNone/>
            </a:pPr>
            <a:r>
              <a:rPr lang="en-US" sz="1600" dirty="0">
                <a:solidFill>
                  <a:srgbClr val="8B7D75"/>
                </a:solidFill>
                <a:latin typeface="Calibri" pitchFamily="34" charset="0"/>
                <a:ea typeface="Calibri" pitchFamily="34" charset="-122"/>
                <a:cs typeface="Calibri" pitchFamily="34" charset="-120"/>
              </a:rPr>
              <a:t>Duizenden records over welke dieren, door wie, wanneer en waarheen werden verplaatst in het Ur III-rijk. Maar deze informatie is grotendeels onontsloten.</a:t>
            </a:r>
            <a:endParaRPr lang="en-US" sz="1600" dirty="0"/>
          </a:p>
        </p:txBody>
      </p:sp>
      <p:sp>
        <p:nvSpPr>
          <p:cNvPr id="6" name="Shape 4"/>
          <p:cNvSpPr/>
          <p:nvPr/>
        </p:nvSpPr>
        <p:spPr>
          <a:xfrm>
            <a:off x="731520" y="3840480"/>
            <a:ext cx="2286000" cy="36576"/>
          </a:xfrm>
          <a:prstGeom prst="rect">
            <a:avLst/>
          </a:prstGeom>
          <a:solidFill>
            <a:srgbClr val="B85042"/>
          </a:solidFill>
          <a:ln/>
        </p:spPr>
      </p:sp>
      <p:sp>
        <p:nvSpPr>
          <p:cNvPr id="7" name="Text 5"/>
          <p:cNvSpPr/>
          <p:nvPr/>
        </p:nvSpPr>
        <p:spPr>
          <a:xfrm>
            <a:off x="731520" y="4114800"/>
            <a:ext cx="7680960" cy="548640"/>
          </a:xfrm>
          <a:prstGeom prst="rect">
            <a:avLst/>
          </a:prstGeom>
          <a:noFill/>
          <a:ln/>
        </p:spPr>
        <p:txBody>
          <a:bodyPr wrap="square" lIns="0" tIns="0" rIns="0" bIns="0" rtlCol="0" anchor="ctr"/>
          <a:lstStyle/>
          <a:p>
            <a:pPr indent="0" marL="0">
              <a:buNone/>
            </a:pPr>
            <a:r>
              <a:rPr lang="en-US" sz="2200" i="1" dirty="0">
                <a:solidFill>
                  <a:srgbClr val="FFFFFF"/>
                </a:solidFill>
                <a:latin typeface="Georgia" pitchFamily="34" charset="0"/>
                <a:ea typeface="Georgia" pitchFamily="34" charset="-122"/>
                <a:cs typeface="Georgia" pitchFamily="34" charset="-120"/>
              </a:rPr>
              <a:t>Dat ga ik veranderen — met een computer.</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B252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sp>
      <p:sp>
        <p:nvSpPr>
          <p:cNvPr id="3" name="Text 1"/>
          <p:cNvSpPr/>
          <p:nvPr/>
        </p:nvSpPr>
        <p:spPr>
          <a:xfrm>
            <a:off x="731520" y="1097280"/>
            <a:ext cx="7680960" cy="137160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DIEREN IN PUZRIŠ-DAGĀN</a:t>
            </a:r>
            <a:endParaRPr lang="en-US" sz="4400" dirty="0"/>
          </a:p>
        </p:txBody>
      </p:sp>
      <p:sp>
        <p:nvSpPr>
          <p:cNvPr id="4" name="Text 2"/>
          <p:cNvSpPr/>
          <p:nvPr/>
        </p:nvSpPr>
        <p:spPr>
          <a:xfrm>
            <a:off x="731520" y="2560320"/>
            <a:ext cx="5486400" cy="914400"/>
          </a:xfrm>
          <a:prstGeom prst="rect">
            <a:avLst/>
          </a:prstGeom>
          <a:noFill/>
          <a:ln/>
        </p:spPr>
        <p:txBody>
          <a:bodyPr wrap="square" lIns="0" tIns="0" rIns="0" bIns="0" rtlCol="0" anchor="ctr"/>
          <a:lstStyle/>
          <a:p>
            <a:pPr indent="0" marL="0">
              <a:buNone/>
            </a:pPr>
            <a:r>
              <a:rPr lang="en-US" sz="1800" i="1" dirty="0">
                <a:solidFill>
                  <a:srgbClr val="F5F0E8"/>
                </a:solidFill>
                <a:latin typeface="Calibri" pitchFamily="34" charset="0"/>
                <a:ea typeface="Calibri" pitchFamily="34" charset="-122"/>
                <a:cs typeface="Calibri" pitchFamily="34" charset="-120"/>
              </a:rPr>
              <a:t>Regelgebaseerde informatie-extractie</a:t>
            </a:r>
            <a:endParaRPr lang="en-US" sz="1800" dirty="0"/>
          </a:p>
          <a:p>
            <a:pPr indent="0" marL="0">
              <a:buNone/>
            </a:pPr>
            <a:r>
              <a:rPr lang="en-US" sz="1800" i="1" dirty="0">
                <a:solidFill>
                  <a:srgbClr val="F5F0E8"/>
                </a:solidFill>
                <a:latin typeface="Calibri" pitchFamily="34" charset="0"/>
                <a:ea typeface="Calibri" pitchFamily="34" charset="-122"/>
                <a:cs typeface="Calibri" pitchFamily="34" charset="-120"/>
              </a:rPr>
              <a:t>uit 15.000 kleitabletten</a:t>
            </a:r>
            <a:endParaRPr lang="en-US" sz="1800" dirty="0"/>
          </a:p>
        </p:txBody>
      </p:sp>
      <p:sp>
        <p:nvSpPr>
          <p:cNvPr id="5" name="Shape 3"/>
          <p:cNvSpPr/>
          <p:nvPr/>
        </p:nvSpPr>
        <p:spPr>
          <a:xfrm>
            <a:off x="731520" y="3657600"/>
            <a:ext cx="1828800" cy="36576"/>
          </a:xfrm>
          <a:prstGeom prst="rect">
            <a:avLst/>
          </a:prstGeom>
          <a:solidFill>
            <a:srgbClr val="B85042"/>
          </a:solidFill>
          <a:ln/>
        </p:spPr>
      </p:sp>
      <p:sp>
        <p:nvSpPr>
          <p:cNvPr id="6" name="Text 4"/>
          <p:cNvSpPr/>
          <p:nvPr/>
        </p:nvSpPr>
        <p:spPr>
          <a:xfrm>
            <a:off x="731520" y="3931920"/>
            <a:ext cx="7315200" cy="457200"/>
          </a:xfrm>
          <a:prstGeom prst="rect">
            <a:avLst/>
          </a:prstGeom>
          <a:noFill/>
          <a:ln/>
        </p:spPr>
        <p:txBody>
          <a:bodyPr wrap="square" lIns="0" tIns="0" rIns="0" bIns="0" rtlCol="0" anchor="ctr"/>
          <a:lstStyle/>
          <a:p>
            <a:pPr indent="0" marL="0">
              <a:buNone/>
            </a:pPr>
            <a:r>
              <a:rPr lang="en-US" sz="1400" dirty="0">
                <a:solidFill>
                  <a:srgbClr val="8B7D75"/>
                </a:solidFill>
                <a:latin typeface="Calibri" pitchFamily="34" charset="0"/>
                <a:ea typeface="Calibri" pitchFamily="34" charset="-122"/>
                <a:cs typeface="Calibri" pitchFamily="34" charset="-120"/>
              </a:rPr>
              <a:t>Patrick Verschoor — Bachelorscriptie Pitch — 11 maart 2026</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sp>
      <p:sp>
        <p:nvSpPr>
          <p:cNvPr id="3" name="Text 1"/>
          <p:cNvSpPr/>
          <p:nvPr/>
        </p:nvSpPr>
        <p:spPr>
          <a:xfrm>
            <a:off x="731520" y="274320"/>
            <a:ext cx="8229600" cy="640080"/>
          </a:xfrm>
          <a:prstGeom prst="rect">
            <a:avLst/>
          </a:prstGeom>
          <a:noFill/>
          <a:ln/>
        </p:spPr>
        <p:txBody>
          <a:bodyPr wrap="square" lIns="0" tIns="0" rIns="0" bIns="0" rtlCol="0" anchor="ctr"/>
          <a:lstStyle/>
          <a:p>
            <a:pPr indent="0" marL="0">
              <a:buNone/>
            </a:pPr>
            <a:r>
              <a:rPr lang="en-US" sz="3600" b="1" dirty="0">
                <a:solidFill>
                  <a:srgbClr val="3B2520"/>
                </a:solidFill>
                <a:latin typeface="Georgia" pitchFamily="34" charset="0"/>
                <a:ea typeface="Georgia" pitchFamily="34" charset="-122"/>
                <a:cs typeface="Georgia" pitchFamily="34" charset="-120"/>
              </a:rPr>
              <a:t>WAT IS DREHEM?</a:t>
            </a:r>
            <a:endParaRPr lang="en-US" sz="3600" dirty="0"/>
          </a:p>
        </p:txBody>
      </p:sp>
      <p:sp>
        <p:nvSpPr>
          <p:cNvPr id="4" name="Shape 2"/>
          <p:cNvSpPr/>
          <p:nvPr/>
        </p:nvSpPr>
        <p:spPr>
          <a:xfrm>
            <a:off x="731520" y="1097280"/>
            <a:ext cx="502920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731520" y="1097280"/>
            <a:ext cx="73152" cy="3474720"/>
          </a:xfrm>
          <a:prstGeom prst="rect">
            <a:avLst/>
          </a:prstGeom>
          <a:solidFill>
            <a:srgbClr val="B85042"/>
          </a:solidFill>
          <a:ln/>
        </p:spPr>
      </p:sp>
      <p:sp>
        <p:nvSpPr>
          <p:cNvPr id="6" name="Text 4"/>
          <p:cNvSpPr/>
          <p:nvPr/>
        </p:nvSpPr>
        <p:spPr>
          <a:xfrm>
            <a:off x="1005840" y="1234440"/>
            <a:ext cx="4572000" cy="411480"/>
          </a:xfrm>
          <a:prstGeom prst="rect">
            <a:avLst/>
          </a:prstGeom>
          <a:noFill/>
          <a:ln/>
        </p:spPr>
        <p:txBody>
          <a:bodyPr wrap="square" lIns="0" tIns="0" rIns="0" bIns="0" rtlCol="0" anchor="ctr"/>
          <a:lstStyle/>
          <a:p>
            <a:pPr indent="0" marL="0">
              <a:buNone/>
            </a:pPr>
            <a:r>
              <a:rPr lang="en-US" sz="1800" b="1" dirty="0">
                <a:solidFill>
                  <a:srgbClr val="3B2520"/>
                </a:solidFill>
                <a:latin typeface="Georgia" pitchFamily="34" charset="0"/>
                <a:ea typeface="Georgia" pitchFamily="34" charset="-122"/>
                <a:cs typeface="Georgia" pitchFamily="34" charset="-120"/>
              </a:rPr>
              <a:t>Puzriš-Dagān (modern: Drehem)</a:t>
            </a:r>
            <a:endParaRPr lang="en-US" sz="1800" dirty="0"/>
          </a:p>
        </p:txBody>
      </p:sp>
      <p:sp>
        <p:nvSpPr>
          <p:cNvPr id="7" name="Text 5"/>
          <p:cNvSpPr/>
          <p:nvPr/>
        </p:nvSpPr>
        <p:spPr>
          <a:xfrm>
            <a:off x="1005840" y="1737360"/>
            <a:ext cx="4480560" cy="2560320"/>
          </a:xfrm>
          <a:prstGeom prst="rect">
            <a:avLst/>
          </a:prstGeom>
          <a:noFill/>
          <a:ln/>
        </p:spPr>
        <p:txBody>
          <a:bodyPr wrap="square" lIns="0" tIns="0" rIns="0" bIns="0" rtlCol="0" anchor="t"/>
          <a:lstStyle/>
          <a:p>
            <a:pPr indent="0" marL="0">
              <a:spcAft>
                <a:spcPts val="1200"/>
              </a:spcAft>
              <a:buNone/>
            </a:pPr>
            <a:r>
              <a:rPr lang="en-US" sz="1300" dirty="0">
                <a:solidFill>
                  <a:srgbClr val="3B2520"/>
                </a:solidFill>
                <a:latin typeface="Calibri" pitchFamily="34" charset="0"/>
                <a:ea typeface="Calibri" pitchFamily="34" charset="-122"/>
                <a:cs typeface="Calibri" pitchFamily="34" charset="-120"/>
              </a:rPr>
              <a:t>Het centrale veedistributiecentrum van het Ur III-rijk (~2100–2000 v.Chr.), gelegen nabij Nippur in het huidige Irak.</a:t>
            </a:r>
            <a:endParaRPr lang="en-US" sz="1300" dirty="0"/>
          </a:p>
          <a:p>
            <a:pPr indent="0" marL="0">
              <a:spcAft>
                <a:spcPts val="1200"/>
              </a:spcAft>
              <a:buNone/>
            </a:pPr>
            <a:r>
              <a:rPr lang="en-US" sz="1300" dirty="0">
                <a:solidFill>
                  <a:srgbClr val="3B2520"/>
                </a:solidFill>
                <a:latin typeface="Calibri" pitchFamily="34" charset="0"/>
                <a:ea typeface="Calibri" pitchFamily="34" charset="-122"/>
                <a:cs typeface="Calibri" pitchFamily="34" charset="-120"/>
              </a:rPr>
              <a:t>Opgericht onder koning Šulgi als onderdeel van een strak georganiseerde rijksbureaucratie. Alle veegerelateerde transacties van het rijk liepen via dit centrum.</a:t>
            </a:r>
            <a:endParaRPr lang="en-US" sz="1300" dirty="0"/>
          </a:p>
          <a:p>
            <a:pPr indent="0" marL="0">
              <a:buNone/>
            </a:pPr>
            <a:r>
              <a:rPr lang="en-US" sz="1300" dirty="0">
                <a:solidFill>
                  <a:srgbClr val="3B2520"/>
                </a:solidFill>
                <a:latin typeface="Calibri" pitchFamily="34" charset="0"/>
                <a:ea typeface="Calibri" pitchFamily="34" charset="-122"/>
                <a:cs typeface="Calibri" pitchFamily="34" charset="-120"/>
              </a:rPr>
              <a:t>De locatie huisvestte schrijvers, archivarissen en keukens. Het fungeerde als een opslagplaats voor documenten, niet als een fysieke verzamelplaats voor dieren.</a:t>
            </a:r>
            <a:endParaRPr lang="en-US" sz="1300" dirty="0"/>
          </a:p>
        </p:txBody>
      </p:sp>
      <p:sp>
        <p:nvSpPr>
          <p:cNvPr id="8" name="Shape 6"/>
          <p:cNvSpPr/>
          <p:nvPr/>
        </p:nvSpPr>
        <p:spPr>
          <a:xfrm>
            <a:off x="6035040" y="1097280"/>
            <a:ext cx="256032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9" name="Shape 7"/>
          <p:cNvSpPr/>
          <p:nvPr/>
        </p:nvSpPr>
        <p:spPr>
          <a:xfrm>
            <a:off x="6035040" y="1097280"/>
            <a:ext cx="73152" cy="3474720"/>
          </a:xfrm>
          <a:prstGeom prst="rect">
            <a:avLst/>
          </a:prstGeom>
          <a:solidFill>
            <a:srgbClr val="D4943A"/>
          </a:solidFill>
          <a:ln/>
        </p:spPr>
      </p:sp>
      <p:sp>
        <p:nvSpPr>
          <p:cNvPr id="10" name="Text 8"/>
          <p:cNvSpPr/>
          <p:nvPr/>
        </p:nvSpPr>
        <p:spPr>
          <a:xfrm>
            <a:off x="6309360" y="1234440"/>
            <a:ext cx="2103120" cy="411480"/>
          </a:xfrm>
          <a:prstGeom prst="rect">
            <a:avLst/>
          </a:prstGeom>
          <a:noFill/>
          <a:ln/>
        </p:spPr>
        <p:txBody>
          <a:bodyPr wrap="square" lIns="0" tIns="0" rIns="0" bIns="0" rtlCol="0" anchor="ctr"/>
          <a:lstStyle/>
          <a:p>
            <a:pPr indent="0" marL="0">
              <a:buNone/>
            </a:pPr>
            <a:r>
              <a:rPr lang="en-US" sz="1300" b="1" dirty="0">
                <a:solidFill>
                  <a:srgbClr val="3B2520"/>
                </a:solidFill>
                <a:latin typeface="Georgia" pitchFamily="34" charset="0"/>
                <a:ea typeface="Georgia" pitchFamily="34" charset="-122"/>
                <a:cs typeface="Georgia" pitchFamily="34" charset="-120"/>
              </a:rPr>
              <a:t>Vier kantoren (Tsouparopoulou)</a:t>
            </a:r>
            <a:endParaRPr lang="en-US" sz="1300" dirty="0"/>
          </a:p>
        </p:txBody>
      </p:sp>
      <p:sp>
        <p:nvSpPr>
          <p:cNvPr id="11" name="Shape 9"/>
          <p:cNvSpPr/>
          <p:nvPr/>
        </p:nvSpPr>
        <p:spPr>
          <a:xfrm>
            <a:off x="6355080" y="1828800"/>
            <a:ext cx="320040" cy="320040"/>
          </a:xfrm>
          <a:prstGeom prst="rect">
            <a:avLst/>
          </a:prstGeom>
          <a:solidFill>
            <a:srgbClr val="B85042"/>
          </a:solidFill>
          <a:ln/>
        </p:spPr>
      </p:sp>
      <p:sp>
        <p:nvSpPr>
          <p:cNvPr id="12" name="Text 10"/>
          <p:cNvSpPr/>
          <p:nvPr/>
        </p:nvSpPr>
        <p:spPr>
          <a:xfrm>
            <a:off x="6355080" y="182880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3" name="Text 11"/>
          <p:cNvSpPr/>
          <p:nvPr/>
        </p:nvSpPr>
        <p:spPr>
          <a:xfrm>
            <a:off x="6812280" y="1828800"/>
            <a:ext cx="1645920" cy="320040"/>
          </a:xfrm>
          <a:prstGeom prst="rect">
            <a:avLst/>
          </a:prstGeom>
          <a:noFill/>
          <a:ln/>
        </p:spPr>
        <p:txBody>
          <a:bodyPr wrap="square" lIns="0" tIns="0" rIns="0" bIns="0" rtlCol="0" anchor="ctr"/>
          <a:lstStyle/>
          <a:p>
            <a:pPr indent="0" marL="0">
              <a:buNone/>
            </a:pPr>
            <a:r>
              <a:rPr lang="en-US" sz="1200" dirty="0">
                <a:solidFill>
                  <a:srgbClr val="3B2520"/>
                </a:solidFill>
                <a:latin typeface="Calibri" pitchFamily="34" charset="0"/>
                <a:ea typeface="Calibri" pitchFamily="34" charset="-122"/>
                <a:cs typeface="Calibri" pitchFamily="34" charset="-120"/>
              </a:rPr>
              <a:t>Hoofdambtenaar</a:t>
            </a:r>
            <a:endParaRPr lang="en-US" sz="1200" dirty="0"/>
          </a:p>
        </p:txBody>
      </p:sp>
      <p:sp>
        <p:nvSpPr>
          <p:cNvPr id="14" name="Shape 12"/>
          <p:cNvSpPr/>
          <p:nvPr/>
        </p:nvSpPr>
        <p:spPr>
          <a:xfrm>
            <a:off x="6355080" y="2468880"/>
            <a:ext cx="320040" cy="320040"/>
          </a:xfrm>
          <a:prstGeom prst="rect">
            <a:avLst/>
          </a:prstGeom>
          <a:solidFill>
            <a:srgbClr val="D4943A"/>
          </a:solidFill>
          <a:ln/>
        </p:spPr>
      </p:sp>
      <p:sp>
        <p:nvSpPr>
          <p:cNvPr id="15" name="Text 13"/>
          <p:cNvSpPr/>
          <p:nvPr/>
        </p:nvSpPr>
        <p:spPr>
          <a:xfrm>
            <a:off x="6355080" y="246888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16" name="Text 14"/>
          <p:cNvSpPr/>
          <p:nvPr/>
        </p:nvSpPr>
        <p:spPr>
          <a:xfrm>
            <a:off x="6812280" y="2468880"/>
            <a:ext cx="1645920" cy="320040"/>
          </a:xfrm>
          <a:prstGeom prst="rect">
            <a:avLst/>
          </a:prstGeom>
          <a:noFill/>
          <a:ln/>
        </p:spPr>
        <p:txBody>
          <a:bodyPr wrap="square" lIns="0" tIns="0" rIns="0" bIns="0" rtlCol="0" anchor="ctr"/>
          <a:lstStyle/>
          <a:p>
            <a:pPr indent="0" marL="0">
              <a:buNone/>
            </a:pPr>
            <a:r>
              <a:rPr lang="en-US" sz="1200" dirty="0">
                <a:solidFill>
                  <a:srgbClr val="3B2520"/>
                </a:solidFill>
                <a:latin typeface="Calibri" pitchFamily="34" charset="0"/>
                <a:ea typeface="Calibri" pitchFamily="34" charset="-122"/>
                <a:cs typeface="Calibri" pitchFamily="34" charset="-120"/>
              </a:rPr>
              <a:t>Uitgifte (Disbursal)</a:t>
            </a:r>
            <a:endParaRPr lang="en-US" sz="1200" dirty="0"/>
          </a:p>
        </p:txBody>
      </p:sp>
      <p:sp>
        <p:nvSpPr>
          <p:cNvPr id="17" name="Shape 15"/>
          <p:cNvSpPr/>
          <p:nvPr/>
        </p:nvSpPr>
        <p:spPr>
          <a:xfrm>
            <a:off x="6355080" y="3108960"/>
            <a:ext cx="320040" cy="320040"/>
          </a:xfrm>
          <a:prstGeom prst="rect">
            <a:avLst/>
          </a:prstGeom>
          <a:solidFill>
            <a:srgbClr val="8B9A6B"/>
          </a:solidFill>
          <a:ln/>
        </p:spPr>
      </p:sp>
      <p:sp>
        <p:nvSpPr>
          <p:cNvPr id="18" name="Text 16"/>
          <p:cNvSpPr/>
          <p:nvPr/>
        </p:nvSpPr>
        <p:spPr>
          <a:xfrm>
            <a:off x="6355080" y="310896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a:t>
            </a:r>
            <a:endParaRPr lang="en-US" sz="1400" dirty="0"/>
          </a:p>
        </p:txBody>
      </p:sp>
      <p:sp>
        <p:nvSpPr>
          <p:cNvPr id="19" name="Text 17"/>
          <p:cNvSpPr/>
          <p:nvPr/>
        </p:nvSpPr>
        <p:spPr>
          <a:xfrm>
            <a:off x="6812280" y="3108960"/>
            <a:ext cx="1645920" cy="320040"/>
          </a:xfrm>
          <a:prstGeom prst="rect">
            <a:avLst/>
          </a:prstGeom>
          <a:noFill/>
          <a:ln/>
        </p:spPr>
        <p:txBody>
          <a:bodyPr wrap="square" lIns="0" tIns="0" rIns="0" bIns="0" rtlCol="0" anchor="ctr"/>
          <a:lstStyle/>
          <a:p>
            <a:pPr indent="0" marL="0">
              <a:buNone/>
            </a:pPr>
            <a:r>
              <a:rPr lang="en-US" sz="1200" dirty="0">
                <a:solidFill>
                  <a:srgbClr val="3B2520"/>
                </a:solidFill>
                <a:latin typeface="Calibri" pitchFamily="34" charset="0"/>
                <a:ea typeface="Calibri" pitchFamily="34" charset="-122"/>
                <a:cs typeface="Calibri" pitchFamily="34" charset="-120"/>
              </a:rPr>
              <a:t>Herders (Shepherds)</a:t>
            </a:r>
            <a:endParaRPr lang="en-US" sz="1200" dirty="0"/>
          </a:p>
        </p:txBody>
      </p:sp>
      <p:sp>
        <p:nvSpPr>
          <p:cNvPr id="20" name="Shape 18"/>
          <p:cNvSpPr/>
          <p:nvPr/>
        </p:nvSpPr>
        <p:spPr>
          <a:xfrm>
            <a:off x="6355080" y="3749040"/>
            <a:ext cx="320040" cy="320040"/>
          </a:xfrm>
          <a:prstGeom prst="rect">
            <a:avLst/>
          </a:prstGeom>
          <a:solidFill>
            <a:srgbClr val="6B5B4B"/>
          </a:solidFill>
          <a:ln/>
        </p:spPr>
      </p:sp>
      <p:sp>
        <p:nvSpPr>
          <p:cNvPr id="21" name="Text 19"/>
          <p:cNvSpPr/>
          <p:nvPr/>
        </p:nvSpPr>
        <p:spPr>
          <a:xfrm>
            <a:off x="6355080" y="374904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X</a:t>
            </a:r>
            <a:endParaRPr lang="en-US" sz="1400" dirty="0"/>
          </a:p>
        </p:txBody>
      </p:sp>
      <p:sp>
        <p:nvSpPr>
          <p:cNvPr id="22" name="Text 20"/>
          <p:cNvSpPr/>
          <p:nvPr/>
        </p:nvSpPr>
        <p:spPr>
          <a:xfrm>
            <a:off x="6812280" y="3749040"/>
            <a:ext cx="1645920" cy="320040"/>
          </a:xfrm>
          <a:prstGeom prst="rect">
            <a:avLst/>
          </a:prstGeom>
          <a:noFill/>
          <a:ln/>
        </p:spPr>
        <p:txBody>
          <a:bodyPr wrap="square" lIns="0" tIns="0" rIns="0" bIns="0" rtlCol="0" anchor="ctr"/>
          <a:lstStyle/>
          <a:p>
            <a:pPr indent="0" marL="0">
              <a:buNone/>
            </a:pPr>
            <a:r>
              <a:rPr lang="en-US" sz="1200" dirty="0">
                <a:solidFill>
                  <a:srgbClr val="3B2520"/>
                </a:solidFill>
                <a:latin typeface="Calibri" pitchFamily="34" charset="0"/>
                <a:ea typeface="Calibri" pitchFamily="34" charset="-122"/>
                <a:cs typeface="Calibri" pitchFamily="34" charset="-120"/>
              </a:rPr>
              <a:t>Dode dieren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sp>
      <p:sp>
        <p:nvSpPr>
          <p:cNvPr id="3" name="Text 1"/>
          <p:cNvSpPr/>
          <p:nvPr/>
        </p:nvSpPr>
        <p:spPr>
          <a:xfrm>
            <a:off x="731520" y="274320"/>
            <a:ext cx="8229600" cy="640080"/>
          </a:xfrm>
          <a:prstGeom prst="rect">
            <a:avLst/>
          </a:prstGeom>
          <a:noFill/>
          <a:ln/>
        </p:spPr>
        <p:txBody>
          <a:bodyPr wrap="square" lIns="0" tIns="0" rIns="0" bIns="0" rtlCol="0" anchor="ctr"/>
          <a:lstStyle/>
          <a:p>
            <a:pPr indent="0" marL="0">
              <a:buNone/>
            </a:pPr>
            <a:r>
              <a:rPr lang="en-US" sz="3600" b="1" dirty="0">
                <a:solidFill>
                  <a:srgbClr val="3B2520"/>
                </a:solidFill>
                <a:latin typeface="Georgia" pitchFamily="34" charset="0"/>
                <a:ea typeface="Georgia" pitchFamily="34" charset="-122"/>
                <a:cs typeface="Georgia" pitchFamily="34" charset="-120"/>
              </a:rPr>
              <a:t>WAAROM DEZE TABLETTEN?</a:t>
            </a:r>
            <a:endParaRPr lang="en-US" sz="3600" dirty="0"/>
          </a:p>
        </p:txBody>
      </p:sp>
      <p:sp>
        <p:nvSpPr>
          <p:cNvPr id="4" name="Text 2"/>
          <p:cNvSpPr/>
          <p:nvPr/>
        </p:nvSpPr>
        <p:spPr>
          <a:xfrm>
            <a:off x="731520" y="822960"/>
            <a:ext cx="8229600" cy="365760"/>
          </a:xfrm>
          <a:prstGeom prst="rect">
            <a:avLst/>
          </a:prstGeom>
          <a:noFill/>
          <a:ln/>
        </p:spPr>
        <p:txBody>
          <a:bodyPr wrap="square" lIns="0" tIns="0" rIns="0" bIns="0" rtlCol="0" anchor="ctr"/>
          <a:lstStyle/>
          <a:p>
            <a:pPr indent="0" marL="0">
              <a:buNone/>
            </a:pPr>
            <a:r>
              <a:rPr lang="en-US" sz="1400" i="1" dirty="0">
                <a:solidFill>
                  <a:srgbClr val="B85042"/>
                </a:solidFill>
                <a:latin typeface="Calibri" pitchFamily="34" charset="0"/>
                <a:ea typeface="Calibri" pitchFamily="34" charset="-122"/>
                <a:cs typeface="Calibri" pitchFamily="34" charset="-120"/>
              </a:rPr>
              <a:t>Korte teksten, herhalende structuur:</a:t>
            </a:r>
            <a:endParaRPr lang="en-US" sz="1400" dirty="0"/>
          </a:p>
        </p:txBody>
      </p:sp>
      <p:sp>
        <p:nvSpPr>
          <p:cNvPr id="5" name="Shape 3"/>
          <p:cNvSpPr/>
          <p:nvPr/>
        </p:nvSpPr>
        <p:spPr>
          <a:xfrm>
            <a:off x="320040" y="1325880"/>
            <a:ext cx="2011680" cy="320040"/>
          </a:xfrm>
          <a:prstGeom prst="rect">
            <a:avLst/>
          </a:prstGeom>
          <a:solidFill>
            <a:srgbClr val="3B2520"/>
          </a:solidFill>
          <a:ln/>
        </p:spPr>
      </p:sp>
      <p:sp>
        <p:nvSpPr>
          <p:cNvPr id="6" name="Text 4"/>
          <p:cNvSpPr/>
          <p:nvPr/>
        </p:nvSpPr>
        <p:spPr>
          <a:xfrm>
            <a:off x="320040" y="1325880"/>
            <a:ext cx="2011680" cy="320040"/>
          </a:xfrm>
          <a:prstGeom prst="rect">
            <a:avLst/>
          </a:prstGeom>
          <a:noFill/>
          <a:ln/>
        </p:spPr>
        <p:txBody>
          <a:bodyPr wrap="square" lIns="0" tIns="0" rIns="0" bIns="0"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P100189</a:t>
            </a:r>
            <a:endParaRPr lang="en-US" sz="1100" dirty="0"/>
          </a:p>
        </p:txBody>
      </p:sp>
      <p:sp>
        <p:nvSpPr>
          <p:cNvPr id="7" name="Shape 5"/>
          <p:cNvSpPr/>
          <p:nvPr/>
        </p:nvSpPr>
        <p:spPr>
          <a:xfrm>
            <a:off x="320040" y="1664208"/>
            <a:ext cx="2011680" cy="329184"/>
          </a:xfrm>
          <a:prstGeom prst="rect">
            <a:avLst/>
          </a:prstGeom>
          <a:solidFill>
            <a:srgbClr val="7ECFBD"/>
          </a:solidFill>
          <a:ln/>
        </p:spPr>
      </p:sp>
      <p:sp>
        <p:nvSpPr>
          <p:cNvPr id="8" name="Text 6"/>
          <p:cNvSpPr/>
          <p:nvPr/>
        </p:nvSpPr>
        <p:spPr>
          <a:xfrm>
            <a:off x="411480" y="1664208"/>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2(disz) udu niga</a:t>
            </a:r>
            <a:endParaRPr lang="en-US" sz="1000" dirty="0"/>
          </a:p>
        </p:txBody>
      </p:sp>
      <p:sp>
        <p:nvSpPr>
          <p:cNvPr id="9" name="Shape 7"/>
          <p:cNvSpPr/>
          <p:nvPr/>
        </p:nvSpPr>
        <p:spPr>
          <a:xfrm>
            <a:off x="320040" y="2011680"/>
            <a:ext cx="2011680" cy="329184"/>
          </a:xfrm>
          <a:prstGeom prst="rect">
            <a:avLst/>
          </a:prstGeom>
          <a:solidFill>
            <a:srgbClr val="7ECFBD"/>
          </a:solidFill>
          <a:ln/>
        </p:spPr>
      </p:sp>
      <p:sp>
        <p:nvSpPr>
          <p:cNvPr id="10" name="Text 8"/>
          <p:cNvSpPr/>
          <p:nvPr/>
        </p:nvSpPr>
        <p:spPr>
          <a:xfrm>
            <a:off x="411480" y="2011680"/>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1(disz) sila4 ga</a:t>
            </a:r>
            <a:endParaRPr lang="en-US" sz="1000" dirty="0"/>
          </a:p>
        </p:txBody>
      </p:sp>
      <p:sp>
        <p:nvSpPr>
          <p:cNvPr id="11" name="Shape 9"/>
          <p:cNvSpPr/>
          <p:nvPr/>
        </p:nvSpPr>
        <p:spPr>
          <a:xfrm>
            <a:off x="320040" y="2359152"/>
            <a:ext cx="2011680" cy="329184"/>
          </a:xfrm>
          <a:prstGeom prst="rect">
            <a:avLst/>
          </a:prstGeom>
          <a:solidFill>
            <a:srgbClr val="F4A7A7"/>
          </a:solidFill>
          <a:ln/>
        </p:spPr>
      </p:sp>
      <p:sp>
        <p:nvSpPr>
          <p:cNvPr id="12" name="Text 10"/>
          <p:cNvSpPr/>
          <p:nvPr/>
        </p:nvSpPr>
        <p:spPr>
          <a:xfrm>
            <a:off x="411480" y="2359152"/>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ba-usz2</a:t>
            </a:r>
            <a:endParaRPr lang="en-US" sz="1000" dirty="0"/>
          </a:p>
        </p:txBody>
      </p:sp>
      <p:sp>
        <p:nvSpPr>
          <p:cNvPr id="13" name="Shape 11"/>
          <p:cNvSpPr/>
          <p:nvPr/>
        </p:nvSpPr>
        <p:spPr>
          <a:xfrm>
            <a:off x="320040" y="2706624"/>
            <a:ext cx="2011680" cy="329184"/>
          </a:xfrm>
          <a:prstGeom prst="rect">
            <a:avLst/>
          </a:prstGeom>
          <a:solidFill>
            <a:srgbClr val="C8A7E8"/>
          </a:solidFill>
          <a:ln/>
        </p:spPr>
      </p:sp>
      <p:sp>
        <p:nvSpPr>
          <p:cNvPr id="14" name="Text 12"/>
          <p:cNvSpPr/>
          <p:nvPr/>
        </p:nvSpPr>
        <p:spPr>
          <a:xfrm>
            <a:off x="411480" y="2706624"/>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ki lu2-dingir-ra-ta</a:t>
            </a:r>
            <a:endParaRPr lang="en-US" sz="1000" dirty="0"/>
          </a:p>
        </p:txBody>
      </p:sp>
      <p:sp>
        <p:nvSpPr>
          <p:cNvPr id="15" name="Shape 13"/>
          <p:cNvSpPr/>
          <p:nvPr/>
        </p:nvSpPr>
        <p:spPr>
          <a:xfrm>
            <a:off x="320040" y="3054096"/>
            <a:ext cx="2011680" cy="329184"/>
          </a:xfrm>
          <a:prstGeom prst="rect">
            <a:avLst/>
          </a:prstGeom>
          <a:solidFill>
            <a:srgbClr val="C8A7E8"/>
          </a:solidFill>
          <a:ln/>
        </p:spPr>
      </p:sp>
      <p:sp>
        <p:nvSpPr>
          <p:cNvPr id="16" name="Text 14"/>
          <p:cNvSpPr/>
          <p:nvPr/>
        </p:nvSpPr>
        <p:spPr>
          <a:xfrm>
            <a:off x="411480" y="3054096"/>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ur-nigar szu ba-ti</a:t>
            </a:r>
            <a:endParaRPr lang="en-US" sz="1000" dirty="0"/>
          </a:p>
        </p:txBody>
      </p:sp>
      <p:sp>
        <p:nvSpPr>
          <p:cNvPr id="17" name="Shape 15"/>
          <p:cNvSpPr/>
          <p:nvPr/>
        </p:nvSpPr>
        <p:spPr>
          <a:xfrm>
            <a:off x="320040" y="3401568"/>
            <a:ext cx="2011680" cy="329184"/>
          </a:xfrm>
          <a:prstGeom prst="rect">
            <a:avLst/>
          </a:prstGeom>
          <a:solidFill>
            <a:srgbClr val="A7C4E8"/>
          </a:solidFill>
          <a:ln/>
        </p:spPr>
      </p:sp>
      <p:sp>
        <p:nvSpPr>
          <p:cNvPr id="18" name="Text 16"/>
          <p:cNvSpPr/>
          <p:nvPr/>
        </p:nvSpPr>
        <p:spPr>
          <a:xfrm>
            <a:off x="411480" y="3401568"/>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iti szu-esz5-sza</a:t>
            </a:r>
            <a:endParaRPr lang="en-US" sz="1000" dirty="0"/>
          </a:p>
        </p:txBody>
      </p:sp>
      <p:sp>
        <p:nvSpPr>
          <p:cNvPr id="19" name="Shape 17"/>
          <p:cNvSpPr/>
          <p:nvPr/>
        </p:nvSpPr>
        <p:spPr>
          <a:xfrm>
            <a:off x="2514600" y="1325880"/>
            <a:ext cx="2011680" cy="320040"/>
          </a:xfrm>
          <a:prstGeom prst="rect">
            <a:avLst/>
          </a:prstGeom>
          <a:solidFill>
            <a:srgbClr val="3B2520"/>
          </a:solidFill>
          <a:ln/>
        </p:spPr>
      </p:sp>
      <p:sp>
        <p:nvSpPr>
          <p:cNvPr id="20" name="Text 18"/>
          <p:cNvSpPr/>
          <p:nvPr/>
        </p:nvSpPr>
        <p:spPr>
          <a:xfrm>
            <a:off x="2514600" y="1325880"/>
            <a:ext cx="2011680" cy="320040"/>
          </a:xfrm>
          <a:prstGeom prst="rect">
            <a:avLst/>
          </a:prstGeom>
          <a:noFill/>
          <a:ln/>
        </p:spPr>
        <p:txBody>
          <a:bodyPr wrap="square" lIns="0" tIns="0" rIns="0" bIns="0"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P100218</a:t>
            </a:r>
            <a:endParaRPr lang="en-US" sz="1100" dirty="0"/>
          </a:p>
        </p:txBody>
      </p:sp>
      <p:sp>
        <p:nvSpPr>
          <p:cNvPr id="21" name="Shape 19"/>
          <p:cNvSpPr/>
          <p:nvPr/>
        </p:nvSpPr>
        <p:spPr>
          <a:xfrm>
            <a:off x="2514600" y="1664208"/>
            <a:ext cx="2011680" cy="329184"/>
          </a:xfrm>
          <a:prstGeom prst="rect">
            <a:avLst/>
          </a:prstGeom>
          <a:solidFill>
            <a:srgbClr val="7ECFBD"/>
          </a:solidFill>
          <a:ln/>
        </p:spPr>
      </p:sp>
      <p:sp>
        <p:nvSpPr>
          <p:cNvPr id="22" name="Text 20"/>
          <p:cNvSpPr/>
          <p:nvPr/>
        </p:nvSpPr>
        <p:spPr>
          <a:xfrm>
            <a:off x="2606040" y="1664208"/>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3(u) masz2-gal</a:t>
            </a:r>
            <a:endParaRPr lang="en-US" sz="1000" dirty="0"/>
          </a:p>
        </p:txBody>
      </p:sp>
      <p:sp>
        <p:nvSpPr>
          <p:cNvPr id="23" name="Shape 21"/>
          <p:cNvSpPr/>
          <p:nvPr/>
        </p:nvSpPr>
        <p:spPr>
          <a:xfrm>
            <a:off x="2514600" y="2011680"/>
            <a:ext cx="2011680" cy="329184"/>
          </a:xfrm>
          <a:prstGeom prst="rect">
            <a:avLst/>
          </a:prstGeom>
          <a:solidFill>
            <a:srgbClr val="C8A7E8"/>
          </a:solidFill>
          <a:ln/>
        </p:spPr>
      </p:sp>
      <p:sp>
        <p:nvSpPr>
          <p:cNvPr id="24" name="Text 22"/>
          <p:cNvSpPr/>
          <p:nvPr/>
        </p:nvSpPr>
        <p:spPr>
          <a:xfrm>
            <a:off x="2606040" y="2011680"/>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ki ab-ba-sa6-ga-ta</a:t>
            </a:r>
            <a:endParaRPr lang="en-US" sz="1000" dirty="0"/>
          </a:p>
        </p:txBody>
      </p:sp>
      <p:sp>
        <p:nvSpPr>
          <p:cNvPr id="25" name="Shape 23"/>
          <p:cNvSpPr/>
          <p:nvPr/>
        </p:nvSpPr>
        <p:spPr>
          <a:xfrm>
            <a:off x="2514600" y="2359152"/>
            <a:ext cx="2011680" cy="329184"/>
          </a:xfrm>
          <a:prstGeom prst="rect">
            <a:avLst/>
          </a:prstGeom>
          <a:solidFill>
            <a:srgbClr val="C8A7E8"/>
          </a:solidFill>
          <a:ln/>
        </p:spPr>
      </p:sp>
      <p:sp>
        <p:nvSpPr>
          <p:cNvPr id="26" name="Text 24"/>
          <p:cNvSpPr/>
          <p:nvPr/>
        </p:nvSpPr>
        <p:spPr>
          <a:xfrm>
            <a:off x="2606040" y="2359152"/>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lugal-me-lam2</a:t>
            </a:r>
            <a:endParaRPr lang="en-US" sz="1000" dirty="0"/>
          </a:p>
        </p:txBody>
      </p:sp>
      <p:sp>
        <p:nvSpPr>
          <p:cNvPr id="27" name="Shape 25"/>
          <p:cNvSpPr/>
          <p:nvPr/>
        </p:nvSpPr>
        <p:spPr>
          <a:xfrm>
            <a:off x="2514600" y="2706624"/>
            <a:ext cx="2011680" cy="329184"/>
          </a:xfrm>
          <a:prstGeom prst="rect">
            <a:avLst/>
          </a:prstGeom>
          <a:solidFill>
            <a:srgbClr val="F4A7A7"/>
          </a:solidFill>
          <a:ln/>
        </p:spPr>
      </p:sp>
      <p:sp>
        <p:nvSpPr>
          <p:cNvPr id="28" name="Text 26"/>
          <p:cNvSpPr/>
          <p:nvPr/>
        </p:nvSpPr>
        <p:spPr>
          <a:xfrm>
            <a:off x="2606040" y="2706624"/>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i3-dab5</a:t>
            </a:r>
            <a:endParaRPr lang="en-US" sz="1000" dirty="0"/>
          </a:p>
        </p:txBody>
      </p:sp>
      <p:sp>
        <p:nvSpPr>
          <p:cNvPr id="29" name="Shape 27"/>
          <p:cNvSpPr/>
          <p:nvPr/>
        </p:nvSpPr>
        <p:spPr>
          <a:xfrm>
            <a:off x="2514600" y="3054096"/>
            <a:ext cx="2011680" cy="329184"/>
          </a:xfrm>
          <a:prstGeom prst="rect">
            <a:avLst/>
          </a:prstGeom>
          <a:solidFill>
            <a:srgbClr val="A7C4E8"/>
          </a:solidFill>
          <a:ln/>
        </p:spPr>
      </p:sp>
      <p:sp>
        <p:nvSpPr>
          <p:cNvPr id="30" name="Text 28"/>
          <p:cNvSpPr/>
          <p:nvPr/>
        </p:nvSpPr>
        <p:spPr>
          <a:xfrm>
            <a:off x="2606040" y="3054096"/>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iti ezem-mah</a:t>
            </a:r>
            <a:endParaRPr lang="en-US" sz="1000" dirty="0"/>
          </a:p>
        </p:txBody>
      </p:sp>
      <p:sp>
        <p:nvSpPr>
          <p:cNvPr id="31" name="Shape 29"/>
          <p:cNvSpPr/>
          <p:nvPr/>
        </p:nvSpPr>
        <p:spPr>
          <a:xfrm>
            <a:off x="2514600" y="3401568"/>
            <a:ext cx="2011680" cy="329184"/>
          </a:xfrm>
          <a:prstGeom prst="rect">
            <a:avLst/>
          </a:prstGeom>
          <a:solidFill>
            <a:srgbClr val="A7C4E8"/>
          </a:solidFill>
          <a:ln/>
        </p:spPr>
      </p:sp>
      <p:sp>
        <p:nvSpPr>
          <p:cNvPr id="32" name="Text 30"/>
          <p:cNvSpPr/>
          <p:nvPr/>
        </p:nvSpPr>
        <p:spPr>
          <a:xfrm>
            <a:off x="2606040" y="3401568"/>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mu en-unu6-gal ...</a:t>
            </a:r>
            <a:endParaRPr lang="en-US" sz="1000" dirty="0"/>
          </a:p>
        </p:txBody>
      </p:sp>
      <p:sp>
        <p:nvSpPr>
          <p:cNvPr id="33" name="Shape 31"/>
          <p:cNvSpPr/>
          <p:nvPr/>
        </p:nvSpPr>
        <p:spPr>
          <a:xfrm>
            <a:off x="4709160" y="1325880"/>
            <a:ext cx="2011680" cy="320040"/>
          </a:xfrm>
          <a:prstGeom prst="rect">
            <a:avLst/>
          </a:prstGeom>
          <a:solidFill>
            <a:srgbClr val="3B2520"/>
          </a:solidFill>
          <a:ln/>
        </p:spPr>
      </p:sp>
      <p:sp>
        <p:nvSpPr>
          <p:cNvPr id="34" name="Text 32"/>
          <p:cNvSpPr/>
          <p:nvPr/>
        </p:nvSpPr>
        <p:spPr>
          <a:xfrm>
            <a:off x="4709160" y="1325880"/>
            <a:ext cx="2011680" cy="320040"/>
          </a:xfrm>
          <a:prstGeom prst="rect">
            <a:avLst/>
          </a:prstGeom>
          <a:noFill/>
          <a:ln/>
        </p:spPr>
        <p:txBody>
          <a:bodyPr wrap="square" lIns="0" tIns="0" rIns="0" bIns="0"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P100191</a:t>
            </a:r>
            <a:endParaRPr lang="en-US" sz="1100" dirty="0"/>
          </a:p>
        </p:txBody>
      </p:sp>
      <p:sp>
        <p:nvSpPr>
          <p:cNvPr id="35" name="Shape 33"/>
          <p:cNvSpPr/>
          <p:nvPr/>
        </p:nvSpPr>
        <p:spPr>
          <a:xfrm>
            <a:off x="4709160" y="1664208"/>
            <a:ext cx="2011680" cy="329184"/>
          </a:xfrm>
          <a:prstGeom prst="rect">
            <a:avLst/>
          </a:prstGeom>
          <a:solidFill>
            <a:srgbClr val="7ECFBD"/>
          </a:solidFill>
          <a:ln/>
        </p:spPr>
      </p:sp>
      <p:sp>
        <p:nvSpPr>
          <p:cNvPr id="36" name="Text 34"/>
          <p:cNvSpPr/>
          <p:nvPr/>
        </p:nvSpPr>
        <p:spPr>
          <a:xfrm>
            <a:off x="4800600" y="1664208"/>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1(disz) masz2-gal niga</a:t>
            </a:r>
            <a:endParaRPr lang="en-US" sz="1000" dirty="0"/>
          </a:p>
        </p:txBody>
      </p:sp>
      <p:sp>
        <p:nvSpPr>
          <p:cNvPr id="37" name="Shape 35"/>
          <p:cNvSpPr/>
          <p:nvPr/>
        </p:nvSpPr>
        <p:spPr>
          <a:xfrm>
            <a:off x="4709160" y="2011680"/>
            <a:ext cx="2011680" cy="329184"/>
          </a:xfrm>
          <a:prstGeom prst="rect">
            <a:avLst/>
          </a:prstGeom>
          <a:solidFill>
            <a:srgbClr val="7ECFBD"/>
          </a:solidFill>
          <a:ln/>
        </p:spPr>
      </p:sp>
      <p:sp>
        <p:nvSpPr>
          <p:cNvPr id="38" name="Text 36"/>
          <p:cNvSpPr/>
          <p:nvPr/>
        </p:nvSpPr>
        <p:spPr>
          <a:xfrm>
            <a:off x="4800600" y="2011680"/>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4(disz) udu ba-usz2</a:t>
            </a:r>
            <a:endParaRPr lang="en-US" sz="1000" dirty="0"/>
          </a:p>
        </p:txBody>
      </p:sp>
      <p:sp>
        <p:nvSpPr>
          <p:cNvPr id="39" name="Shape 37"/>
          <p:cNvSpPr/>
          <p:nvPr/>
        </p:nvSpPr>
        <p:spPr>
          <a:xfrm>
            <a:off x="4709160" y="2359152"/>
            <a:ext cx="2011680" cy="329184"/>
          </a:xfrm>
          <a:prstGeom prst="rect">
            <a:avLst/>
          </a:prstGeom>
          <a:solidFill>
            <a:srgbClr val="C8A7E8"/>
          </a:solidFill>
          <a:ln/>
        </p:spPr>
      </p:sp>
      <p:sp>
        <p:nvSpPr>
          <p:cNvPr id="40" name="Text 38"/>
          <p:cNvSpPr/>
          <p:nvPr/>
        </p:nvSpPr>
        <p:spPr>
          <a:xfrm>
            <a:off x="4800600" y="2359152"/>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ki lu2-dingir-ra-ta</a:t>
            </a:r>
            <a:endParaRPr lang="en-US" sz="1000" dirty="0"/>
          </a:p>
        </p:txBody>
      </p:sp>
      <p:sp>
        <p:nvSpPr>
          <p:cNvPr id="41" name="Shape 39"/>
          <p:cNvSpPr/>
          <p:nvPr/>
        </p:nvSpPr>
        <p:spPr>
          <a:xfrm>
            <a:off x="4709160" y="2706624"/>
            <a:ext cx="2011680" cy="329184"/>
          </a:xfrm>
          <a:prstGeom prst="rect">
            <a:avLst/>
          </a:prstGeom>
          <a:solidFill>
            <a:srgbClr val="C8A7E8"/>
          </a:solidFill>
          <a:ln/>
        </p:spPr>
      </p:sp>
      <p:sp>
        <p:nvSpPr>
          <p:cNvPr id="42" name="Text 40"/>
          <p:cNvSpPr/>
          <p:nvPr/>
        </p:nvSpPr>
        <p:spPr>
          <a:xfrm>
            <a:off x="4800600" y="2706624"/>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ur-nigar szu ba-ti</a:t>
            </a:r>
            <a:endParaRPr lang="en-US" sz="1000" dirty="0"/>
          </a:p>
        </p:txBody>
      </p:sp>
      <p:sp>
        <p:nvSpPr>
          <p:cNvPr id="43" name="Shape 41"/>
          <p:cNvSpPr/>
          <p:nvPr/>
        </p:nvSpPr>
        <p:spPr>
          <a:xfrm>
            <a:off x="4709160" y="3054096"/>
            <a:ext cx="2011680" cy="329184"/>
          </a:xfrm>
          <a:prstGeom prst="rect">
            <a:avLst/>
          </a:prstGeom>
          <a:solidFill>
            <a:srgbClr val="A7C4E8"/>
          </a:solidFill>
          <a:ln/>
        </p:spPr>
      </p:sp>
      <p:sp>
        <p:nvSpPr>
          <p:cNvPr id="44" name="Text 42"/>
          <p:cNvSpPr/>
          <p:nvPr/>
        </p:nvSpPr>
        <p:spPr>
          <a:xfrm>
            <a:off x="4800600" y="3054096"/>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iti u5-bi2-gu7</a:t>
            </a:r>
            <a:endParaRPr lang="en-US" sz="1000" dirty="0"/>
          </a:p>
        </p:txBody>
      </p:sp>
      <p:sp>
        <p:nvSpPr>
          <p:cNvPr id="45" name="Shape 43"/>
          <p:cNvSpPr/>
          <p:nvPr/>
        </p:nvSpPr>
        <p:spPr>
          <a:xfrm>
            <a:off x="4709160" y="3401568"/>
            <a:ext cx="2011680" cy="329184"/>
          </a:xfrm>
          <a:prstGeom prst="rect">
            <a:avLst/>
          </a:prstGeom>
          <a:solidFill>
            <a:srgbClr val="A7C4E8"/>
          </a:solidFill>
          <a:ln/>
        </p:spPr>
      </p:sp>
      <p:sp>
        <p:nvSpPr>
          <p:cNvPr id="46" name="Text 44"/>
          <p:cNvSpPr/>
          <p:nvPr/>
        </p:nvSpPr>
        <p:spPr>
          <a:xfrm>
            <a:off x="4800600" y="3401568"/>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mu {d}amar-{d}suen</a:t>
            </a:r>
            <a:endParaRPr lang="en-US" sz="1000" dirty="0"/>
          </a:p>
        </p:txBody>
      </p:sp>
      <p:sp>
        <p:nvSpPr>
          <p:cNvPr id="47" name="Shape 45"/>
          <p:cNvSpPr/>
          <p:nvPr/>
        </p:nvSpPr>
        <p:spPr>
          <a:xfrm>
            <a:off x="6903720" y="1325880"/>
            <a:ext cx="2011680" cy="320040"/>
          </a:xfrm>
          <a:prstGeom prst="rect">
            <a:avLst/>
          </a:prstGeom>
          <a:solidFill>
            <a:srgbClr val="3B2520"/>
          </a:solidFill>
          <a:ln/>
        </p:spPr>
      </p:sp>
      <p:sp>
        <p:nvSpPr>
          <p:cNvPr id="48" name="Text 46"/>
          <p:cNvSpPr/>
          <p:nvPr/>
        </p:nvSpPr>
        <p:spPr>
          <a:xfrm>
            <a:off x="6903720" y="1325880"/>
            <a:ext cx="2011680" cy="320040"/>
          </a:xfrm>
          <a:prstGeom prst="rect">
            <a:avLst/>
          </a:prstGeom>
          <a:noFill/>
          <a:ln/>
        </p:spPr>
        <p:txBody>
          <a:bodyPr wrap="square" lIns="0" tIns="0" rIns="0" bIns="0"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P100219</a:t>
            </a:r>
            <a:endParaRPr lang="en-US" sz="1100" dirty="0"/>
          </a:p>
        </p:txBody>
      </p:sp>
      <p:sp>
        <p:nvSpPr>
          <p:cNvPr id="49" name="Shape 47"/>
          <p:cNvSpPr/>
          <p:nvPr/>
        </p:nvSpPr>
        <p:spPr>
          <a:xfrm>
            <a:off x="6903720" y="1664208"/>
            <a:ext cx="2011680" cy="329184"/>
          </a:xfrm>
          <a:prstGeom prst="rect">
            <a:avLst/>
          </a:prstGeom>
          <a:solidFill>
            <a:srgbClr val="7ECFBD"/>
          </a:solidFill>
          <a:ln/>
        </p:spPr>
      </p:sp>
      <p:sp>
        <p:nvSpPr>
          <p:cNvPr id="50" name="Text 48"/>
          <p:cNvSpPr/>
          <p:nvPr/>
        </p:nvSpPr>
        <p:spPr>
          <a:xfrm>
            <a:off x="6995160" y="1664208"/>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1(disz) sila4 zabar-dab5</a:t>
            </a:r>
            <a:endParaRPr lang="en-US" sz="1000" dirty="0"/>
          </a:p>
        </p:txBody>
      </p:sp>
      <p:sp>
        <p:nvSpPr>
          <p:cNvPr id="51" name="Shape 49"/>
          <p:cNvSpPr/>
          <p:nvPr/>
        </p:nvSpPr>
        <p:spPr>
          <a:xfrm>
            <a:off x="6903720" y="2011680"/>
            <a:ext cx="2011680" cy="329184"/>
          </a:xfrm>
          <a:prstGeom prst="rect">
            <a:avLst/>
          </a:prstGeom>
          <a:solidFill>
            <a:srgbClr val="7ECFBD"/>
          </a:solidFill>
          <a:ln/>
        </p:spPr>
      </p:sp>
      <p:sp>
        <p:nvSpPr>
          <p:cNvPr id="52" name="Text 50"/>
          <p:cNvSpPr/>
          <p:nvPr/>
        </p:nvSpPr>
        <p:spPr>
          <a:xfrm>
            <a:off x="6995160" y="2011680"/>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1(disz) sila4 ensi2 umma</a:t>
            </a:r>
            <a:endParaRPr lang="en-US" sz="1000" dirty="0"/>
          </a:p>
        </p:txBody>
      </p:sp>
      <p:sp>
        <p:nvSpPr>
          <p:cNvPr id="53" name="Shape 51"/>
          <p:cNvSpPr/>
          <p:nvPr/>
        </p:nvSpPr>
        <p:spPr>
          <a:xfrm>
            <a:off x="6903720" y="2359152"/>
            <a:ext cx="2011680" cy="329184"/>
          </a:xfrm>
          <a:prstGeom prst="rect">
            <a:avLst/>
          </a:prstGeom>
          <a:solidFill>
            <a:srgbClr val="7ECFBD"/>
          </a:solidFill>
          <a:ln/>
        </p:spPr>
      </p:sp>
      <p:sp>
        <p:nvSpPr>
          <p:cNvPr id="54" name="Text 52"/>
          <p:cNvSpPr/>
          <p:nvPr/>
        </p:nvSpPr>
        <p:spPr>
          <a:xfrm>
            <a:off x="6995160" y="2359152"/>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1(disz) sila4 ensi2 gir2-su</a:t>
            </a:r>
            <a:endParaRPr lang="en-US" sz="1000" dirty="0"/>
          </a:p>
        </p:txBody>
      </p:sp>
      <p:sp>
        <p:nvSpPr>
          <p:cNvPr id="55" name="Shape 53"/>
          <p:cNvSpPr/>
          <p:nvPr/>
        </p:nvSpPr>
        <p:spPr>
          <a:xfrm>
            <a:off x="6903720" y="2706624"/>
            <a:ext cx="2011680" cy="329184"/>
          </a:xfrm>
          <a:prstGeom prst="rect">
            <a:avLst/>
          </a:prstGeom>
          <a:solidFill>
            <a:srgbClr val="F4A7A7"/>
          </a:solidFill>
          <a:ln/>
        </p:spPr>
      </p:sp>
      <p:sp>
        <p:nvSpPr>
          <p:cNvPr id="56" name="Text 54"/>
          <p:cNvSpPr/>
          <p:nvPr/>
        </p:nvSpPr>
        <p:spPr>
          <a:xfrm>
            <a:off x="6995160" y="2706624"/>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mu-kux(DU)</a:t>
            </a:r>
            <a:endParaRPr lang="en-US" sz="1000" dirty="0"/>
          </a:p>
        </p:txBody>
      </p:sp>
      <p:sp>
        <p:nvSpPr>
          <p:cNvPr id="57" name="Shape 55"/>
          <p:cNvSpPr/>
          <p:nvPr/>
        </p:nvSpPr>
        <p:spPr>
          <a:xfrm>
            <a:off x="6903720" y="3054096"/>
            <a:ext cx="2011680" cy="329184"/>
          </a:xfrm>
          <a:prstGeom prst="rect">
            <a:avLst/>
          </a:prstGeom>
          <a:solidFill>
            <a:srgbClr val="C8A7E8"/>
          </a:solidFill>
          <a:ln/>
        </p:spPr>
      </p:sp>
      <p:sp>
        <p:nvSpPr>
          <p:cNvPr id="58" name="Text 56"/>
          <p:cNvSpPr/>
          <p:nvPr/>
        </p:nvSpPr>
        <p:spPr>
          <a:xfrm>
            <a:off x="6995160" y="3054096"/>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na-sa6 i3-dab5</a:t>
            </a:r>
            <a:endParaRPr lang="en-US" sz="1000" dirty="0"/>
          </a:p>
        </p:txBody>
      </p:sp>
      <p:sp>
        <p:nvSpPr>
          <p:cNvPr id="59" name="Shape 57"/>
          <p:cNvSpPr/>
          <p:nvPr/>
        </p:nvSpPr>
        <p:spPr>
          <a:xfrm>
            <a:off x="6903720" y="3401568"/>
            <a:ext cx="2011680" cy="329184"/>
          </a:xfrm>
          <a:prstGeom prst="rect">
            <a:avLst/>
          </a:prstGeom>
          <a:solidFill>
            <a:srgbClr val="A7C4E8"/>
          </a:solidFill>
          <a:ln/>
        </p:spPr>
      </p:sp>
      <p:sp>
        <p:nvSpPr>
          <p:cNvPr id="60" name="Text 58"/>
          <p:cNvSpPr/>
          <p:nvPr/>
        </p:nvSpPr>
        <p:spPr>
          <a:xfrm>
            <a:off x="6995160" y="3401568"/>
            <a:ext cx="1828800" cy="329184"/>
          </a:xfrm>
          <a:prstGeom prst="rect">
            <a:avLst/>
          </a:prstGeom>
          <a:noFill/>
          <a:ln/>
        </p:spPr>
        <p:txBody>
          <a:bodyPr wrap="square" lIns="0" tIns="0" rIns="0" bIns="0" rtlCol="0" anchor="ctr"/>
          <a:lstStyle/>
          <a:p>
            <a:pPr indent="0" marL="0">
              <a:buNone/>
            </a:pPr>
            <a:r>
              <a:rPr lang="en-US" sz="1000" dirty="0">
                <a:solidFill>
                  <a:srgbClr val="3B2520"/>
                </a:solidFill>
                <a:latin typeface="Consolas" pitchFamily="34" charset="0"/>
                <a:ea typeface="Consolas" pitchFamily="34" charset="-122"/>
                <a:cs typeface="Consolas" pitchFamily="34" charset="-120"/>
              </a:rPr>
              <a:t>iti a2-ki-ti</a:t>
            </a:r>
            <a:endParaRPr lang="en-US" sz="1000" dirty="0"/>
          </a:p>
        </p:txBody>
      </p:sp>
      <p:sp>
        <p:nvSpPr>
          <p:cNvPr id="61" name="Shape 59"/>
          <p:cNvSpPr/>
          <p:nvPr/>
        </p:nvSpPr>
        <p:spPr>
          <a:xfrm>
            <a:off x="731520" y="3886200"/>
            <a:ext cx="228600" cy="228600"/>
          </a:xfrm>
          <a:prstGeom prst="rect">
            <a:avLst/>
          </a:prstGeom>
          <a:solidFill>
            <a:srgbClr val="7ECFBD"/>
          </a:solidFill>
          <a:ln/>
        </p:spPr>
      </p:sp>
      <p:sp>
        <p:nvSpPr>
          <p:cNvPr id="62" name="Text 60"/>
          <p:cNvSpPr/>
          <p:nvPr/>
        </p:nvSpPr>
        <p:spPr>
          <a:xfrm>
            <a:off x="1051560" y="3886200"/>
            <a:ext cx="1645920" cy="228600"/>
          </a:xfrm>
          <a:prstGeom prst="rect">
            <a:avLst/>
          </a:prstGeom>
          <a:noFill/>
          <a:ln/>
        </p:spPr>
        <p:txBody>
          <a:bodyPr wrap="square" lIns="0" tIns="0" rIns="0" bIns="0" rtlCol="0" anchor="ctr"/>
          <a:lstStyle/>
          <a:p>
            <a:pPr indent="0" marL="0">
              <a:buNone/>
            </a:pPr>
            <a:r>
              <a:rPr lang="en-US" sz="1100" dirty="0">
                <a:solidFill>
                  <a:srgbClr val="3B2520"/>
                </a:solidFill>
                <a:latin typeface="Calibri" pitchFamily="34" charset="0"/>
                <a:ea typeface="Calibri" pitchFamily="34" charset="-122"/>
                <a:cs typeface="Calibri" pitchFamily="34" charset="-120"/>
              </a:rPr>
              <a:t>Diersoort &amp; aantal</a:t>
            </a:r>
            <a:endParaRPr lang="en-US" sz="1100" dirty="0"/>
          </a:p>
        </p:txBody>
      </p:sp>
      <p:sp>
        <p:nvSpPr>
          <p:cNvPr id="63" name="Shape 61"/>
          <p:cNvSpPr/>
          <p:nvPr/>
        </p:nvSpPr>
        <p:spPr>
          <a:xfrm>
            <a:off x="2880360" y="3886200"/>
            <a:ext cx="228600" cy="228600"/>
          </a:xfrm>
          <a:prstGeom prst="rect">
            <a:avLst/>
          </a:prstGeom>
          <a:solidFill>
            <a:srgbClr val="F4A7A7"/>
          </a:solidFill>
          <a:ln/>
        </p:spPr>
      </p:sp>
      <p:sp>
        <p:nvSpPr>
          <p:cNvPr id="64" name="Text 62"/>
          <p:cNvSpPr/>
          <p:nvPr/>
        </p:nvSpPr>
        <p:spPr>
          <a:xfrm>
            <a:off x="3200400" y="3886200"/>
            <a:ext cx="1645920" cy="228600"/>
          </a:xfrm>
          <a:prstGeom prst="rect">
            <a:avLst/>
          </a:prstGeom>
          <a:noFill/>
          <a:ln/>
        </p:spPr>
        <p:txBody>
          <a:bodyPr wrap="square" lIns="0" tIns="0" rIns="0" bIns="0" rtlCol="0" anchor="ctr"/>
          <a:lstStyle/>
          <a:p>
            <a:pPr indent="0" marL="0">
              <a:buNone/>
            </a:pPr>
            <a:r>
              <a:rPr lang="en-US" sz="1100" dirty="0">
                <a:solidFill>
                  <a:srgbClr val="3B2520"/>
                </a:solidFill>
                <a:latin typeface="Calibri" pitchFamily="34" charset="0"/>
                <a:ea typeface="Calibri" pitchFamily="34" charset="-122"/>
                <a:cs typeface="Calibri" pitchFamily="34" charset="-120"/>
              </a:rPr>
              <a:t>Transactietype</a:t>
            </a:r>
            <a:endParaRPr lang="en-US" sz="1100" dirty="0"/>
          </a:p>
        </p:txBody>
      </p:sp>
      <p:sp>
        <p:nvSpPr>
          <p:cNvPr id="65" name="Shape 63"/>
          <p:cNvSpPr/>
          <p:nvPr/>
        </p:nvSpPr>
        <p:spPr>
          <a:xfrm>
            <a:off x="5029200" y="3886200"/>
            <a:ext cx="228600" cy="228600"/>
          </a:xfrm>
          <a:prstGeom prst="rect">
            <a:avLst/>
          </a:prstGeom>
          <a:solidFill>
            <a:srgbClr val="C8A7E8"/>
          </a:solidFill>
          <a:ln/>
        </p:spPr>
      </p:sp>
      <p:sp>
        <p:nvSpPr>
          <p:cNvPr id="66" name="Text 64"/>
          <p:cNvSpPr/>
          <p:nvPr/>
        </p:nvSpPr>
        <p:spPr>
          <a:xfrm>
            <a:off x="5349240" y="3886200"/>
            <a:ext cx="1645920" cy="228600"/>
          </a:xfrm>
          <a:prstGeom prst="rect">
            <a:avLst/>
          </a:prstGeom>
          <a:noFill/>
          <a:ln/>
        </p:spPr>
        <p:txBody>
          <a:bodyPr wrap="square" lIns="0" tIns="0" rIns="0" bIns="0" rtlCol="0" anchor="ctr"/>
          <a:lstStyle/>
          <a:p>
            <a:pPr indent="0" marL="0">
              <a:buNone/>
            </a:pPr>
            <a:r>
              <a:rPr lang="en-US" sz="1100" dirty="0">
                <a:solidFill>
                  <a:srgbClr val="3B2520"/>
                </a:solidFill>
                <a:latin typeface="Calibri" pitchFamily="34" charset="0"/>
                <a:ea typeface="Calibri" pitchFamily="34" charset="-122"/>
                <a:cs typeface="Calibri" pitchFamily="34" charset="-120"/>
              </a:rPr>
              <a:t>Persoon / rol</a:t>
            </a:r>
            <a:endParaRPr lang="en-US" sz="1100" dirty="0"/>
          </a:p>
        </p:txBody>
      </p:sp>
      <p:sp>
        <p:nvSpPr>
          <p:cNvPr id="67" name="Shape 65"/>
          <p:cNvSpPr/>
          <p:nvPr/>
        </p:nvSpPr>
        <p:spPr>
          <a:xfrm>
            <a:off x="7178040" y="3886200"/>
            <a:ext cx="228600" cy="228600"/>
          </a:xfrm>
          <a:prstGeom prst="rect">
            <a:avLst/>
          </a:prstGeom>
          <a:solidFill>
            <a:srgbClr val="A7C4E8"/>
          </a:solidFill>
          <a:ln/>
        </p:spPr>
      </p:sp>
      <p:sp>
        <p:nvSpPr>
          <p:cNvPr id="68" name="Text 66"/>
          <p:cNvSpPr/>
          <p:nvPr/>
        </p:nvSpPr>
        <p:spPr>
          <a:xfrm>
            <a:off x="7498080" y="3886200"/>
            <a:ext cx="1645920" cy="228600"/>
          </a:xfrm>
          <a:prstGeom prst="rect">
            <a:avLst/>
          </a:prstGeom>
          <a:noFill/>
          <a:ln/>
        </p:spPr>
        <p:txBody>
          <a:bodyPr wrap="square" lIns="0" tIns="0" rIns="0" bIns="0" rtlCol="0" anchor="ctr"/>
          <a:lstStyle/>
          <a:p>
            <a:pPr indent="0" marL="0">
              <a:buNone/>
            </a:pPr>
            <a:r>
              <a:rPr lang="en-US" sz="1100" dirty="0">
                <a:solidFill>
                  <a:srgbClr val="3B2520"/>
                </a:solidFill>
                <a:latin typeface="Calibri" pitchFamily="34" charset="0"/>
                <a:ea typeface="Calibri" pitchFamily="34" charset="-122"/>
                <a:cs typeface="Calibri" pitchFamily="34" charset="-120"/>
              </a:rPr>
              <a:t>Datering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sp>
      <p:sp>
        <p:nvSpPr>
          <p:cNvPr id="3" name="Text 1"/>
          <p:cNvSpPr/>
          <p:nvPr/>
        </p:nvSpPr>
        <p:spPr>
          <a:xfrm>
            <a:off x="731520" y="274320"/>
            <a:ext cx="8229600" cy="640080"/>
          </a:xfrm>
          <a:prstGeom prst="rect">
            <a:avLst/>
          </a:prstGeom>
          <a:noFill/>
          <a:ln/>
        </p:spPr>
        <p:txBody>
          <a:bodyPr wrap="square" lIns="0" tIns="0" rIns="0" bIns="0" rtlCol="0" anchor="ctr"/>
          <a:lstStyle/>
          <a:p>
            <a:pPr indent="0" marL="0">
              <a:buNone/>
            </a:pPr>
            <a:r>
              <a:rPr lang="en-US" sz="3600" b="1" dirty="0">
                <a:solidFill>
                  <a:srgbClr val="3B2520"/>
                </a:solidFill>
                <a:latin typeface="Georgia" pitchFamily="34" charset="0"/>
                <a:ea typeface="Georgia" pitchFamily="34" charset="-122"/>
                <a:cs typeface="Georgia" pitchFamily="34" charset="-120"/>
              </a:rPr>
              <a:t>ONDERZOEKSGESCHIEDENIS</a:t>
            </a:r>
            <a:endParaRPr lang="en-US" sz="3600" dirty="0"/>
          </a:p>
        </p:txBody>
      </p:sp>
      <p:sp>
        <p:nvSpPr>
          <p:cNvPr id="4" name="Shape 2"/>
          <p:cNvSpPr/>
          <p:nvPr/>
        </p:nvSpPr>
        <p:spPr>
          <a:xfrm>
            <a:off x="731520" y="1051560"/>
            <a:ext cx="3749040" cy="1188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731520" y="1051560"/>
            <a:ext cx="64008" cy="1188720"/>
          </a:xfrm>
          <a:prstGeom prst="rect">
            <a:avLst/>
          </a:prstGeom>
          <a:solidFill>
            <a:srgbClr val="B85042"/>
          </a:solidFill>
          <a:ln/>
        </p:spPr>
      </p:sp>
      <p:sp>
        <p:nvSpPr>
          <p:cNvPr id="6" name="Text 4"/>
          <p:cNvSpPr/>
          <p:nvPr/>
        </p:nvSpPr>
        <p:spPr>
          <a:xfrm>
            <a:off x="960120" y="1143000"/>
            <a:ext cx="3291840" cy="320040"/>
          </a:xfrm>
          <a:prstGeom prst="rect">
            <a:avLst/>
          </a:prstGeom>
          <a:noFill/>
          <a:ln/>
        </p:spPr>
        <p:txBody>
          <a:bodyPr wrap="square" lIns="0" tIns="0" rIns="0" bIns="0" rtlCol="0" anchor="ctr"/>
          <a:lstStyle/>
          <a:p>
            <a:pPr indent="0" marL="0">
              <a:buNone/>
            </a:pPr>
            <a:r>
              <a:rPr lang="en-US" sz="1400" b="1" dirty="0">
                <a:solidFill>
                  <a:srgbClr val="3B2520"/>
                </a:solidFill>
                <a:latin typeface="Georgia" pitchFamily="34" charset="0"/>
                <a:ea typeface="Georgia" pitchFamily="34" charset="-122"/>
                <a:cs typeface="Georgia" pitchFamily="34" charset="-120"/>
              </a:rPr>
              <a:t>Jones &amp; Snyder (1961)</a:t>
            </a:r>
            <a:endParaRPr lang="en-US" sz="1400" dirty="0"/>
          </a:p>
        </p:txBody>
      </p:sp>
      <p:sp>
        <p:nvSpPr>
          <p:cNvPr id="7" name="Text 5"/>
          <p:cNvSpPr/>
          <p:nvPr/>
        </p:nvSpPr>
        <p:spPr>
          <a:xfrm>
            <a:off x="960120" y="1463040"/>
            <a:ext cx="3291840" cy="685800"/>
          </a:xfrm>
          <a:prstGeom prst="rect">
            <a:avLst/>
          </a:prstGeom>
          <a:noFill/>
          <a:ln/>
        </p:spPr>
        <p:txBody>
          <a:bodyPr wrap="square" lIns="0" tIns="0" rIns="0" bIns="0" rtlCol="0" anchor="t"/>
          <a:lstStyle/>
          <a:p>
            <a:pPr indent="0" marL="0">
              <a:buNone/>
            </a:pPr>
            <a:r>
              <a:rPr lang="en-US" sz="1100" dirty="0">
                <a:solidFill>
                  <a:srgbClr val="3B2520"/>
                </a:solidFill>
                <a:latin typeface="Calibri" pitchFamily="34" charset="0"/>
                <a:ea typeface="Calibri" pitchFamily="34" charset="-122"/>
                <a:cs typeface="Calibri" pitchFamily="34" charset="-120"/>
              </a:rPr>
              <a:t>Eerste reconstructie van de administratie. Beperkt bronmateriaal, geen vermelding van het hoofdkantoor.</a:t>
            </a:r>
            <a:endParaRPr lang="en-US" sz="1100" dirty="0"/>
          </a:p>
        </p:txBody>
      </p:sp>
      <p:sp>
        <p:nvSpPr>
          <p:cNvPr id="8" name="Shape 6"/>
          <p:cNvSpPr/>
          <p:nvPr/>
        </p:nvSpPr>
        <p:spPr>
          <a:xfrm>
            <a:off x="4846320" y="1051560"/>
            <a:ext cx="3749040" cy="1188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9" name="Shape 7"/>
          <p:cNvSpPr/>
          <p:nvPr/>
        </p:nvSpPr>
        <p:spPr>
          <a:xfrm>
            <a:off x="4846320" y="1051560"/>
            <a:ext cx="64008" cy="1188720"/>
          </a:xfrm>
          <a:prstGeom prst="rect">
            <a:avLst/>
          </a:prstGeom>
          <a:solidFill>
            <a:srgbClr val="B85042"/>
          </a:solidFill>
          <a:ln/>
        </p:spPr>
      </p:sp>
      <p:sp>
        <p:nvSpPr>
          <p:cNvPr id="10" name="Text 8"/>
          <p:cNvSpPr/>
          <p:nvPr/>
        </p:nvSpPr>
        <p:spPr>
          <a:xfrm>
            <a:off x="5074920" y="1143000"/>
            <a:ext cx="3291840" cy="320040"/>
          </a:xfrm>
          <a:prstGeom prst="rect">
            <a:avLst/>
          </a:prstGeom>
          <a:noFill/>
          <a:ln/>
        </p:spPr>
        <p:txBody>
          <a:bodyPr wrap="square" lIns="0" tIns="0" rIns="0" bIns="0" rtlCol="0" anchor="ctr"/>
          <a:lstStyle/>
          <a:p>
            <a:pPr indent="0" marL="0">
              <a:buNone/>
            </a:pPr>
            <a:r>
              <a:rPr lang="en-US" sz="1400" b="1" dirty="0">
                <a:solidFill>
                  <a:srgbClr val="3B2520"/>
                </a:solidFill>
                <a:latin typeface="Georgia" pitchFamily="34" charset="0"/>
                <a:ea typeface="Georgia" pitchFamily="34" charset="-122"/>
                <a:cs typeface="Georgia" pitchFamily="34" charset="-120"/>
              </a:rPr>
              <a:t>Sigrist (1992)</a:t>
            </a:r>
            <a:endParaRPr lang="en-US" sz="1400" dirty="0"/>
          </a:p>
        </p:txBody>
      </p:sp>
      <p:sp>
        <p:nvSpPr>
          <p:cNvPr id="11" name="Text 9"/>
          <p:cNvSpPr/>
          <p:nvPr/>
        </p:nvSpPr>
        <p:spPr>
          <a:xfrm>
            <a:off x="5074920" y="1463040"/>
            <a:ext cx="3291840" cy="685800"/>
          </a:xfrm>
          <a:prstGeom prst="rect">
            <a:avLst/>
          </a:prstGeom>
          <a:noFill/>
          <a:ln/>
        </p:spPr>
        <p:txBody>
          <a:bodyPr wrap="square" lIns="0" tIns="0" rIns="0" bIns="0" rtlCol="0" anchor="t"/>
          <a:lstStyle/>
          <a:p>
            <a:pPr indent="0" marL="0">
              <a:buNone/>
            </a:pPr>
            <a:r>
              <a:rPr lang="en-US" sz="1100" dirty="0">
                <a:solidFill>
                  <a:srgbClr val="3B2520"/>
                </a:solidFill>
                <a:latin typeface="Calibri" pitchFamily="34" charset="0"/>
                <a:ea typeface="Calibri" pitchFamily="34" charset="-122"/>
                <a:cs typeface="Calibri" pitchFamily="34" charset="-120"/>
              </a:rPr>
              <a:t>Prosopografische aanpak: ambtenaren chronologisch en alfabetisch geordend. Rijke gegevens, maar geen bestuurlijke reconstructie.</a:t>
            </a:r>
            <a:endParaRPr lang="en-US" sz="1100" dirty="0"/>
          </a:p>
        </p:txBody>
      </p:sp>
      <p:sp>
        <p:nvSpPr>
          <p:cNvPr id="12" name="Shape 10"/>
          <p:cNvSpPr/>
          <p:nvPr/>
        </p:nvSpPr>
        <p:spPr>
          <a:xfrm>
            <a:off x="731520" y="2423160"/>
            <a:ext cx="3749040" cy="1188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731520" y="2423160"/>
            <a:ext cx="64008" cy="1188720"/>
          </a:xfrm>
          <a:prstGeom prst="rect">
            <a:avLst/>
          </a:prstGeom>
          <a:solidFill>
            <a:srgbClr val="B85042"/>
          </a:solidFill>
          <a:ln/>
        </p:spPr>
      </p:sp>
      <p:sp>
        <p:nvSpPr>
          <p:cNvPr id="14" name="Text 12"/>
          <p:cNvSpPr/>
          <p:nvPr/>
        </p:nvSpPr>
        <p:spPr>
          <a:xfrm>
            <a:off x="960120" y="2514600"/>
            <a:ext cx="3291840" cy="320040"/>
          </a:xfrm>
          <a:prstGeom prst="rect">
            <a:avLst/>
          </a:prstGeom>
          <a:noFill/>
          <a:ln/>
        </p:spPr>
        <p:txBody>
          <a:bodyPr wrap="square" lIns="0" tIns="0" rIns="0" bIns="0" rtlCol="0" anchor="ctr"/>
          <a:lstStyle/>
          <a:p>
            <a:pPr indent="0" marL="0">
              <a:buNone/>
            </a:pPr>
            <a:r>
              <a:rPr lang="en-US" sz="1400" b="1" dirty="0">
                <a:solidFill>
                  <a:srgbClr val="3B2520"/>
                </a:solidFill>
                <a:latin typeface="Georgia" pitchFamily="34" charset="0"/>
                <a:ea typeface="Georgia" pitchFamily="34" charset="-122"/>
                <a:cs typeface="Georgia" pitchFamily="34" charset="-120"/>
              </a:rPr>
              <a:t>Sallaberger (1993, 1999)</a:t>
            </a:r>
            <a:endParaRPr lang="en-US" sz="1400" dirty="0"/>
          </a:p>
        </p:txBody>
      </p:sp>
      <p:sp>
        <p:nvSpPr>
          <p:cNvPr id="15" name="Text 13"/>
          <p:cNvSpPr/>
          <p:nvPr/>
        </p:nvSpPr>
        <p:spPr>
          <a:xfrm>
            <a:off x="960120" y="2834640"/>
            <a:ext cx="3291840" cy="685800"/>
          </a:xfrm>
          <a:prstGeom prst="rect">
            <a:avLst/>
          </a:prstGeom>
          <a:noFill/>
          <a:ln/>
        </p:spPr>
        <p:txBody>
          <a:bodyPr wrap="square" lIns="0" tIns="0" rIns="0" bIns="0" rtlCol="0" anchor="t"/>
          <a:lstStyle/>
          <a:p>
            <a:pPr indent="0" marL="0">
              <a:buNone/>
            </a:pPr>
            <a:r>
              <a:rPr lang="en-US" sz="1100" dirty="0">
                <a:solidFill>
                  <a:srgbClr val="3B2520"/>
                </a:solidFill>
                <a:latin typeface="Calibri" pitchFamily="34" charset="0"/>
                <a:ea typeface="Calibri" pitchFamily="34" charset="-122"/>
                <a:cs typeface="Calibri" pitchFamily="34" charset="-120"/>
              </a:rPr>
              <a:t>Analyse van het cultische kalender en de ambtenaren. Onderscheid tussen ontvangende en uitgevende kantoren.</a:t>
            </a:r>
            <a:endParaRPr lang="en-US" sz="1100" dirty="0"/>
          </a:p>
        </p:txBody>
      </p:sp>
      <p:sp>
        <p:nvSpPr>
          <p:cNvPr id="16" name="Shape 14"/>
          <p:cNvSpPr/>
          <p:nvPr/>
        </p:nvSpPr>
        <p:spPr>
          <a:xfrm>
            <a:off x="4846320" y="2423160"/>
            <a:ext cx="3749040" cy="1188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7" name="Shape 15"/>
          <p:cNvSpPr/>
          <p:nvPr/>
        </p:nvSpPr>
        <p:spPr>
          <a:xfrm>
            <a:off x="4846320" y="2423160"/>
            <a:ext cx="64008" cy="1188720"/>
          </a:xfrm>
          <a:prstGeom prst="rect">
            <a:avLst/>
          </a:prstGeom>
          <a:solidFill>
            <a:srgbClr val="B85042"/>
          </a:solidFill>
          <a:ln/>
        </p:spPr>
      </p:sp>
      <p:sp>
        <p:nvSpPr>
          <p:cNvPr id="18" name="Text 16"/>
          <p:cNvSpPr/>
          <p:nvPr/>
        </p:nvSpPr>
        <p:spPr>
          <a:xfrm>
            <a:off x="5074920" y="2514600"/>
            <a:ext cx="3291840" cy="320040"/>
          </a:xfrm>
          <a:prstGeom prst="rect">
            <a:avLst/>
          </a:prstGeom>
          <a:noFill/>
          <a:ln/>
        </p:spPr>
        <p:txBody>
          <a:bodyPr wrap="square" lIns="0" tIns="0" rIns="0" bIns="0" rtlCol="0" anchor="ctr"/>
          <a:lstStyle/>
          <a:p>
            <a:pPr indent="0" marL="0">
              <a:buNone/>
            </a:pPr>
            <a:r>
              <a:rPr lang="en-US" sz="1400" b="1" dirty="0">
                <a:solidFill>
                  <a:srgbClr val="3B2520"/>
                </a:solidFill>
                <a:latin typeface="Georgia" pitchFamily="34" charset="0"/>
                <a:ea typeface="Georgia" pitchFamily="34" charset="-122"/>
                <a:cs typeface="Georgia" pitchFamily="34" charset="-120"/>
              </a:rPr>
              <a:t>Hilgert (1998, 2003)</a:t>
            </a:r>
            <a:endParaRPr lang="en-US" sz="1400" dirty="0"/>
          </a:p>
        </p:txBody>
      </p:sp>
      <p:sp>
        <p:nvSpPr>
          <p:cNvPr id="19" name="Text 17"/>
          <p:cNvSpPr/>
          <p:nvPr/>
        </p:nvSpPr>
        <p:spPr>
          <a:xfrm>
            <a:off x="5074920" y="2834640"/>
            <a:ext cx="3291840" cy="685800"/>
          </a:xfrm>
          <a:prstGeom prst="rect">
            <a:avLst/>
          </a:prstGeom>
          <a:noFill/>
          <a:ln/>
        </p:spPr>
        <p:txBody>
          <a:bodyPr wrap="square" lIns="0" tIns="0" rIns="0" bIns="0" rtlCol="0" anchor="t"/>
          <a:lstStyle/>
          <a:p>
            <a:pPr indent="0" marL="0">
              <a:buNone/>
            </a:pPr>
            <a:r>
              <a:rPr lang="en-US" sz="1100" dirty="0">
                <a:solidFill>
                  <a:srgbClr val="3B2520"/>
                </a:solidFill>
                <a:latin typeface="Calibri" pitchFamily="34" charset="0"/>
                <a:ea typeface="Calibri" pitchFamily="34" charset="-122"/>
                <a:cs typeface="Calibri" pitchFamily="34" charset="-120"/>
              </a:rPr>
              <a:t>Verdeelde Puzriš-Dagān in 'bureaus' op basis van de initiërende ambtenaar (ki PN-ta). Meest complete beeld tot dan toe.</a:t>
            </a:r>
            <a:endParaRPr lang="en-US" sz="1100" dirty="0"/>
          </a:p>
        </p:txBody>
      </p:sp>
      <p:sp>
        <p:nvSpPr>
          <p:cNvPr id="20" name="Shape 18"/>
          <p:cNvSpPr/>
          <p:nvPr/>
        </p:nvSpPr>
        <p:spPr>
          <a:xfrm>
            <a:off x="731520" y="3840480"/>
            <a:ext cx="7680960" cy="914400"/>
          </a:xfrm>
          <a:prstGeom prst="rect">
            <a:avLst/>
          </a:prstGeom>
          <a:solidFill>
            <a:srgbClr val="E7E8D1"/>
          </a:solidFill>
          <a:ln/>
          <a:effectLst>
            <a:outerShdw sx="100000" sy="100000" kx="0" ky="0" algn="bl" rotWithShape="0" blurRad="50800" dist="25400" dir="8100000">
              <a:srgbClr val="000000">
                <a:alpha val="10000"/>
              </a:srgbClr>
            </a:outerShdw>
          </a:effectLst>
        </p:spPr>
      </p:sp>
      <p:sp>
        <p:nvSpPr>
          <p:cNvPr id="21" name="Shape 19"/>
          <p:cNvSpPr/>
          <p:nvPr/>
        </p:nvSpPr>
        <p:spPr>
          <a:xfrm>
            <a:off x="731520" y="3840480"/>
            <a:ext cx="64008" cy="914400"/>
          </a:xfrm>
          <a:prstGeom prst="rect">
            <a:avLst/>
          </a:prstGeom>
          <a:solidFill>
            <a:srgbClr val="D4943A"/>
          </a:solidFill>
          <a:ln/>
        </p:spPr>
      </p:sp>
      <p:sp>
        <p:nvSpPr>
          <p:cNvPr id="22" name="Text 20"/>
          <p:cNvSpPr/>
          <p:nvPr/>
        </p:nvSpPr>
        <p:spPr>
          <a:xfrm>
            <a:off x="1005840" y="3931920"/>
            <a:ext cx="2743200" cy="320040"/>
          </a:xfrm>
          <a:prstGeom prst="rect">
            <a:avLst/>
          </a:prstGeom>
          <a:noFill/>
          <a:ln/>
        </p:spPr>
        <p:txBody>
          <a:bodyPr wrap="square" lIns="0" tIns="0" rIns="0" bIns="0" rtlCol="0" anchor="ctr"/>
          <a:lstStyle/>
          <a:p>
            <a:pPr indent="0" marL="0">
              <a:buNone/>
            </a:pPr>
            <a:r>
              <a:rPr lang="en-US" sz="1400" b="1" dirty="0">
                <a:solidFill>
                  <a:srgbClr val="3B2520"/>
                </a:solidFill>
                <a:latin typeface="Georgia" pitchFamily="34" charset="0"/>
                <a:ea typeface="Georgia" pitchFamily="34" charset="-122"/>
                <a:cs typeface="Georgia" pitchFamily="34" charset="-120"/>
              </a:rPr>
              <a:t>Tsouparopoulou (2008, 2013)</a:t>
            </a:r>
            <a:endParaRPr lang="en-US" sz="1400" dirty="0"/>
          </a:p>
        </p:txBody>
      </p:sp>
      <p:sp>
        <p:nvSpPr>
          <p:cNvPr id="23" name="Text 21"/>
          <p:cNvSpPr/>
          <p:nvPr/>
        </p:nvSpPr>
        <p:spPr>
          <a:xfrm>
            <a:off x="1005840" y="4206240"/>
            <a:ext cx="7132320" cy="457200"/>
          </a:xfrm>
          <a:prstGeom prst="rect">
            <a:avLst/>
          </a:prstGeom>
          <a:noFill/>
          <a:ln/>
        </p:spPr>
        <p:txBody>
          <a:bodyPr wrap="square" lIns="0" tIns="0" rIns="0" bIns="0" rtlCol="0" anchor="ctr"/>
          <a:lstStyle/>
          <a:p>
            <a:pPr indent="0" marL="0">
              <a:buNone/>
            </a:pPr>
            <a:r>
              <a:rPr lang="en-US" sz="1100" dirty="0">
                <a:solidFill>
                  <a:srgbClr val="3B2520"/>
                </a:solidFill>
                <a:latin typeface="Calibri" pitchFamily="34" charset="0"/>
                <a:ea typeface="Calibri" pitchFamily="34" charset="-122"/>
                <a:cs typeface="Calibri" pitchFamily="34" charset="-120"/>
              </a:rPr>
              <a:t>Huidige standaardwerk. Vier kantoren (C, D, S, X) gereconstrueerd op basis van sleutelwoorden en zegelpraktijken. ~13.500 tabletten geanalyseerd.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sp>
      <p:sp>
        <p:nvSpPr>
          <p:cNvPr id="3" name="Text 1"/>
          <p:cNvSpPr/>
          <p:nvPr/>
        </p:nvSpPr>
        <p:spPr>
          <a:xfrm>
            <a:off x="731520" y="274320"/>
            <a:ext cx="8229600" cy="640080"/>
          </a:xfrm>
          <a:prstGeom prst="rect">
            <a:avLst/>
          </a:prstGeom>
          <a:noFill/>
          <a:ln/>
        </p:spPr>
        <p:txBody>
          <a:bodyPr wrap="square" lIns="0" tIns="0" rIns="0" bIns="0" rtlCol="0" anchor="ctr"/>
          <a:lstStyle/>
          <a:p>
            <a:pPr indent="0" marL="0">
              <a:buNone/>
            </a:pPr>
            <a:r>
              <a:rPr lang="en-US" sz="3600" b="1" dirty="0">
                <a:solidFill>
                  <a:srgbClr val="3B2520"/>
                </a:solidFill>
                <a:latin typeface="Georgia" pitchFamily="34" charset="0"/>
                <a:ea typeface="Georgia" pitchFamily="34" charset="-122"/>
                <a:cs typeface="Georgia" pitchFamily="34" charset="-120"/>
              </a:rPr>
              <a:t>BESTAANDE PROJECTEN</a:t>
            </a:r>
            <a:endParaRPr lang="en-US" sz="3600" dirty="0"/>
          </a:p>
        </p:txBody>
      </p:sp>
      <p:sp>
        <p:nvSpPr>
          <p:cNvPr id="4" name="Shape 2"/>
          <p:cNvSpPr/>
          <p:nvPr/>
        </p:nvSpPr>
        <p:spPr>
          <a:xfrm>
            <a:off x="731520" y="1097280"/>
            <a:ext cx="374904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731520" y="1097280"/>
            <a:ext cx="64008" cy="3200400"/>
          </a:xfrm>
          <a:prstGeom prst="rect">
            <a:avLst/>
          </a:prstGeom>
          <a:solidFill>
            <a:srgbClr val="D4943A"/>
          </a:solidFill>
          <a:ln/>
        </p:spPr>
      </p:sp>
      <p:sp>
        <p:nvSpPr>
          <p:cNvPr id="6" name="Text 4"/>
          <p:cNvSpPr/>
          <p:nvPr/>
        </p:nvSpPr>
        <p:spPr>
          <a:xfrm>
            <a:off x="1005840" y="1234440"/>
            <a:ext cx="3200400" cy="365760"/>
          </a:xfrm>
          <a:prstGeom prst="rect">
            <a:avLst/>
          </a:prstGeom>
          <a:noFill/>
          <a:ln/>
        </p:spPr>
        <p:txBody>
          <a:bodyPr wrap="square" lIns="0" tIns="0" rIns="0" bIns="0" rtlCol="0" anchor="ctr"/>
          <a:lstStyle/>
          <a:p>
            <a:pPr indent="0" marL="0">
              <a:buNone/>
            </a:pPr>
            <a:r>
              <a:rPr lang="en-US" sz="1800" b="1" dirty="0">
                <a:solidFill>
                  <a:srgbClr val="3B2520"/>
                </a:solidFill>
                <a:latin typeface="Georgia" pitchFamily="34" charset="0"/>
                <a:ea typeface="Georgia" pitchFamily="34" charset="-122"/>
                <a:cs typeface="Georgia" pitchFamily="34" charset="-120"/>
              </a:rPr>
              <a:t>Sumerian Networks</a:t>
            </a:r>
            <a:endParaRPr lang="en-US" sz="1800" dirty="0"/>
          </a:p>
        </p:txBody>
      </p:sp>
      <p:sp>
        <p:nvSpPr>
          <p:cNvPr id="7" name="Text 5"/>
          <p:cNvSpPr/>
          <p:nvPr/>
        </p:nvSpPr>
        <p:spPr>
          <a:xfrm>
            <a:off x="1005840" y="1600200"/>
            <a:ext cx="3200400" cy="274320"/>
          </a:xfrm>
          <a:prstGeom prst="rect">
            <a:avLst/>
          </a:prstGeom>
          <a:noFill/>
          <a:ln/>
        </p:spPr>
        <p:txBody>
          <a:bodyPr wrap="square" lIns="0" tIns="0" rIns="0" bIns="0" rtlCol="0" anchor="ctr"/>
          <a:lstStyle/>
          <a:p>
            <a:pPr indent="0" marL="0">
              <a:buNone/>
            </a:pPr>
            <a:r>
              <a:rPr lang="en-US" sz="1100" i="1" dirty="0">
                <a:solidFill>
                  <a:srgbClr val="8B7D75"/>
                </a:solidFill>
                <a:latin typeface="Calibri" pitchFamily="34" charset="0"/>
                <a:ea typeface="Calibri" pitchFamily="34" charset="-122"/>
                <a:cs typeface="Calibri" pitchFamily="34" charset="-120"/>
              </a:rPr>
              <a:t>Niek Veldhuis e.a. — UC Berkeley</a:t>
            </a:r>
            <a:endParaRPr lang="en-US" sz="1100" dirty="0"/>
          </a:p>
        </p:txBody>
      </p:sp>
      <p:sp>
        <p:nvSpPr>
          <p:cNvPr id="8" name="Text 6"/>
          <p:cNvSpPr/>
          <p:nvPr/>
        </p:nvSpPr>
        <p:spPr>
          <a:xfrm>
            <a:off x="1005840" y="1965960"/>
            <a:ext cx="3200400" cy="2103120"/>
          </a:xfrm>
          <a:prstGeom prst="rect">
            <a:avLst/>
          </a:prstGeom>
          <a:noFill/>
          <a:ln/>
        </p:spPr>
        <p:txBody>
          <a:bodyPr wrap="square" lIns="0" tIns="0" rIns="0" bIns="0" rtlCol="0" anchor="t"/>
          <a:lstStyle/>
          <a:p>
            <a:pPr indent="0" marL="0">
              <a:spcAft>
                <a:spcPts val="1000"/>
              </a:spcAft>
              <a:buNone/>
            </a:pPr>
            <a:r>
              <a:rPr lang="en-US" sz="1200" dirty="0">
                <a:solidFill>
                  <a:srgbClr val="3B2520"/>
                </a:solidFill>
                <a:latin typeface="Calibri" pitchFamily="34" charset="0"/>
                <a:ea typeface="Calibri" pitchFamily="34" charset="-122"/>
                <a:cs typeface="Calibri" pitchFamily="34" charset="-120"/>
              </a:rPr>
              <a:t>Sociaal-economische netwerken opgebouwd uit de Drehem-teksten.</a:t>
            </a:r>
            <a:endParaRPr lang="en-US" sz="1200" dirty="0"/>
          </a:p>
          <a:p>
            <a:pPr indent="0" marL="0">
              <a:spcAft>
                <a:spcPts val="1000"/>
              </a:spcAft>
              <a:buNone/>
            </a:pPr>
            <a:r>
              <a:rPr lang="en-US" sz="1200" dirty="0">
                <a:solidFill>
                  <a:srgbClr val="3B2520"/>
                </a:solidFill>
                <a:latin typeface="Calibri" pitchFamily="34" charset="0"/>
                <a:ea typeface="Calibri" pitchFamily="34" charset="-122"/>
                <a:cs typeface="Calibri" pitchFamily="34" charset="-120"/>
              </a:rPr>
              <a:t>Met behulp van computationele methoden (NLP en Jupyter Notebooks) worden verbanden tussen personen zichtbaar gemaakt.</a:t>
            </a:r>
            <a:endParaRPr lang="en-US" sz="1200" dirty="0"/>
          </a:p>
          <a:p>
            <a:pPr indent="0" marL="0">
              <a:buNone/>
            </a:pPr>
            <a:r>
              <a:rPr lang="en-US" sz="1200" b="1" dirty="0">
                <a:solidFill>
                  <a:srgbClr val="3B2520"/>
                </a:solidFill>
                <a:latin typeface="Calibri" pitchFamily="34" charset="0"/>
                <a:ea typeface="Calibri" pitchFamily="34" charset="-122"/>
                <a:cs typeface="Calibri" pitchFamily="34" charset="-120"/>
              </a:rPr>
              <a:t>Focus: </a:t>
            </a:r>
            <a:pPr indent="0" marL="0">
              <a:buNone/>
            </a:pPr>
            <a:r>
              <a:rPr lang="en-US" sz="1200" dirty="0">
                <a:solidFill>
                  <a:srgbClr val="3B2520"/>
                </a:solidFill>
                <a:latin typeface="Calibri" pitchFamily="34" charset="0"/>
                <a:ea typeface="Calibri" pitchFamily="34" charset="-122"/>
                <a:cs typeface="Calibri" pitchFamily="34" charset="-120"/>
              </a:rPr>
              <a:t>reproduceerbare methoden laten zien. Meer een onderwijshulpmiddel dan een afgerond analyseproject.</a:t>
            </a:r>
            <a:endParaRPr lang="en-US" sz="1200" dirty="0"/>
          </a:p>
        </p:txBody>
      </p:sp>
      <p:sp>
        <p:nvSpPr>
          <p:cNvPr id="9" name="Shape 7"/>
          <p:cNvSpPr/>
          <p:nvPr/>
        </p:nvSpPr>
        <p:spPr>
          <a:xfrm>
            <a:off x="4754880" y="1097280"/>
            <a:ext cx="374904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097280"/>
            <a:ext cx="64008" cy="3200400"/>
          </a:xfrm>
          <a:prstGeom prst="rect">
            <a:avLst/>
          </a:prstGeom>
          <a:solidFill>
            <a:srgbClr val="D4943A"/>
          </a:solidFill>
          <a:ln/>
        </p:spPr>
      </p:sp>
      <p:sp>
        <p:nvSpPr>
          <p:cNvPr id="11" name="Text 9"/>
          <p:cNvSpPr/>
          <p:nvPr/>
        </p:nvSpPr>
        <p:spPr>
          <a:xfrm>
            <a:off x="5029200" y="1234440"/>
            <a:ext cx="3200400" cy="365760"/>
          </a:xfrm>
          <a:prstGeom prst="rect">
            <a:avLst/>
          </a:prstGeom>
          <a:noFill/>
          <a:ln/>
        </p:spPr>
        <p:txBody>
          <a:bodyPr wrap="square" lIns="0" tIns="0" rIns="0" bIns="0" rtlCol="0" anchor="ctr"/>
          <a:lstStyle/>
          <a:p>
            <a:pPr indent="0" marL="0">
              <a:buNone/>
            </a:pPr>
            <a:r>
              <a:rPr lang="en-US" sz="1800" b="1" dirty="0">
                <a:solidFill>
                  <a:srgbClr val="3B2520"/>
                </a:solidFill>
                <a:latin typeface="Georgia" pitchFamily="34" charset="0"/>
                <a:ea typeface="Georgia" pitchFamily="34" charset="-122"/>
                <a:cs typeface="Georgia" pitchFamily="34" charset="-120"/>
              </a:rPr>
              <a:t>ur3-viz</a:t>
            </a:r>
            <a:endParaRPr lang="en-US" sz="1800" dirty="0"/>
          </a:p>
        </p:txBody>
      </p:sp>
      <p:sp>
        <p:nvSpPr>
          <p:cNvPr id="12" name="Text 10"/>
          <p:cNvSpPr/>
          <p:nvPr/>
        </p:nvSpPr>
        <p:spPr>
          <a:xfrm>
            <a:off x="5029200" y="1600200"/>
            <a:ext cx="3200400" cy="274320"/>
          </a:xfrm>
          <a:prstGeom prst="rect">
            <a:avLst/>
          </a:prstGeom>
          <a:noFill/>
          <a:ln/>
        </p:spPr>
        <p:txBody>
          <a:bodyPr wrap="square" lIns="0" tIns="0" rIns="0" bIns="0" rtlCol="0" anchor="ctr"/>
          <a:lstStyle/>
          <a:p>
            <a:pPr indent="0" marL="0">
              <a:buNone/>
            </a:pPr>
            <a:r>
              <a:rPr lang="en-US" sz="1100" i="1" dirty="0">
                <a:solidFill>
                  <a:srgbClr val="8B7D75"/>
                </a:solidFill>
                <a:latin typeface="Calibri" pitchFamily="34" charset="0"/>
                <a:ea typeface="Calibri" pitchFamily="34" charset="-122"/>
                <a:cs typeface="Calibri" pitchFamily="34" charset="-120"/>
              </a:rPr>
              <a:t>Alexandre Popoff</a:t>
            </a:r>
            <a:endParaRPr lang="en-US" sz="1100" dirty="0"/>
          </a:p>
        </p:txBody>
      </p:sp>
      <p:sp>
        <p:nvSpPr>
          <p:cNvPr id="13" name="Text 11"/>
          <p:cNvSpPr/>
          <p:nvPr/>
        </p:nvSpPr>
        <p:spPr>
          <a:xfrm>
            <a:off x="5029200" y="1965960"/>
            <a:ext cx="3200400" cy="2103120"/>
          </a:xfrm>
          <a:prstGeom prst="rect">
            <a:avLst/>
          </a:prstGeom>
          <a:noFill/>
          <a:ln/>
        </p:spPr>
        <p:txBody>
          <a:bodyPr wrap="square" lIns="0" tIns="0" rIns="0" bIns="0" rtlCol="0" anchor="t"/>
          <a:lstStyle/>
          <a:p>
            <a:pPr indent="0" marL="0">
              <a:spcAft>
                <a:spcPts val="1000"/>
              </a:spcAft>
              <a:buNone/>
            </a:pPr>
            <a:r>
              <a:rPr lang="en-US" sz="1200" dirty="0">
                <a:solidFill>
                  <a:srgbClr val="3B2520"/>
                </a:solidFill>
                <a:latin typeface="Calibri" pitchFamily="34" charset="0"/>
                <a:ea typeface="Calibri" pitchFamily="34" charset="-122"/>
                <a:cs typeface="Calibri" pitchFamily="34" charset="-120"/>
              </a:rPr>
              <a:t>Een netwerk gebouwd dat verbanden toont tussen Ur III-tabletten: wie levert aan wie.</a:t>
            </a:r>
            <a:endParaRPr lang="en-US" sz="1200" dirty="0"/>
          </a:p>
          <a:p>
            <a:pPr indent="0" marL="0">
              <a:spcAft>
                <a:spcPts val="1000"/>
              </a:spcAft>
              <a:buNone/>
            </a:pPr>
            <a:r>
              <a:rPr lang="en-US" sz="1200" dirty="0">
                <a:solidFill>
                  <a:srgbClr val="3B2520"/>
                </a:solidFill>
                <a:latin typeface="Calibri" pitchFamily="34" charset="0"/>
                <a:ea typeface="Calibri" pitchFamily="34" charset="-122"/>
                <a:cs typeface="Calibri" pitchFamily="34" charset="-120"/>
              </a:rPr>
              <a:t>~65.000 tabletten verwerkt. Visuele grafieken van goederenstromen en persoonlijke netwerken.</a:t>
            </a:r>
            <a:endParaRPr lang="en-US" sz="1200" dirty="0"/>
          </a:p>
          <a:p>
            <a:pPr indent="0" marL="0">
              <a:buNone/>
            </a:pPr>
            <a:r>
              <a:rPr lang="en-US" sz="1200" b="1" dirty="0">
                <a:solidFill>
                  <a:srgbClr val="3B2520"/>
                </a:solidFill>
                <a:latin typeface="Calibri" pitchFamily="34" charset="0"/>
                <a:ea typeface="Calibri" pitchFamily="34" charset="-122"/>
                <a:cs typeface="Calibri" pitchFamily="34" charset="-120"/>
              </a:rPr>
              <a:t>Beperkingen: </a:t>
            </a:r>
            <a:pPr indent="0" marL="0">
              <a:buNone/>
            </a:pPr>
            <a:r>
              <a:rPr lang="en-US" sz="1200" dirty="0">
                <a:solidFill>
                  <a:srgbClr val="3B2520"/>
                </a:solidFill>
                <a:latin typeface="Calibri" pitchFamily="34" charset="0"/>
                <a:ea typeface="Calibri" pitchFamily="34" charset="-122"/>
                <a:cs typeface="Calibri" pitchFamily="34" charset="-120"/>
              </a:rPr>
              <a:t>sluit ongedateerde tabletten uit, kan niet goed overweg met meerdere partijen per tablet en worstelt met ambigue persoonsnamen.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sp>
      <p:sp>
        <p:nvSpPr>
          <p:cNvPr id="3" name="Text 1"/>
          <p:cNvSpPr/>
          <p:nvPr/>
        </p:nvSpPr>
        <p:spPr>
          <a:xfrm>
            <a:off x="731520" y="274320"/>
            <a:ext cx="8229600" cy="640080"/>
          </a:xfrm>
          <a:prstGeom prst="rect">
            <a:avLst/>
          </a:prstGeom>
          <a:noFill/>
          <a:ln/>
        </p:spPr>
        <p:txBody>
          <a:bodyPr wrap="square" lIns="0" tIns="0" rIns="0" bIns="0" rtlCol="0" anchor="ctr"/>
          <a:lstStyle/>
          <a:p>
            <a:pPr indent="0" marL="0">
              <a:buNone/>
            </a:pPr>
            <a:r>
              <a:rPr lang="en-US" sz="3600" b="1" dirty="0">
                <a:solidFill>
                  <a:srgbClr val="3B2520"/>
                </a:solidFill>
                <a:latin typeface="Georgia" pitchFamily="34" charset="0"/>
                <a:ea typeface="Georgia" pitchFamily="34" charset="-122"/>
                <a:cs typeface="Georgia" pitchFamily="34" charset="-120"/>
              </a:rPr>
              <a:t>MIJN ONDERZOEK</a:t>
            </a:r>
            <a:endParaRPr lang="en-US" sz="3600" dirty="0"/>
          </a:p>
        </p:txBody>
      </p:sp>
      <p:sp>
        <p:nvSpPr>
          <p:cNvPr id="4" name="Shape 2"/>
          <p:cNvSpPr/>
          <p:nvPr/>
        </p:nvSpPr>
        <p:spPr>
          <a:xfrm>
            <a:off x="731520" y="1097280"/>
            <a:ext cx="37490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731520" y="1097280"/>
            <a:ext cx="3749040" cy="457200"/>
          </a:xfrm>
          <a:prstGeom prst="rect">
            <a:avLst/>
          </a:prstGeom>
          <a:solidFill>
            <a:srgbClr val="3B2520"/>
          </a:solidFill>
          <a:ln/>
        </p:spPr>
      </p:sp>
      <p:sp>
        <p:nvSpPr>
          <p:cNvPr id="6" name="Text 4"/>
          <p:cNvSpPr/>
          <p:nvPr/>
        </p:nvSpPr>
        <p:spPr>
          <a:xfrm>
            <a:off x="914400" y="1097280"/>
            <a:ext cx="3383280" cy="45720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Fase 1 — Nu: de pijplijn bouwen</a:t>
            </a:r>
            <a:endParaRPr lang="en-US" sz="1400" dirty="0"/>
          </a:p>
        </p:txBody>
      </p:sp>
      <p:sp>
        <p:nvSpPr>
          <p:cNvPr id="7" name="Text 5"/>
          <p:cNvSpPr/>
          <p:nvPr/>
        </p:nvSpPr>
        <p:spPr>
          <a:xfrm>
            <a:off x="914400" y="1737360"/>
            <a:ext cx="3383280" cy="640080"/>
          </a:xfrm>
          <a:prstGeom prst="rect">
            <a:avLst/>
          </a:prstGeom>
          <a:noFill/>
          <a:ln/>
        </p:spPr>
        <p:txBody>
          <a:bodyPr wrap="square" lIns="0" tIns="0" rIns="0" bIns="0" rtlCol="0" anchor="ctr"/>
          <a:lstStyle/>
          <a:p>
            <a:pPr indent="0" marL="0">
              <a:buNone/>
            </a:pPr>
            <a:r>
              <a:rPr lang="en-US" sz="1300" dirty="0">
                <a:solidFill>
                  <a:srgbClr val="3B2520"/>
                </a:solidFill>
                <a:latin typeface="Calibri" pitchFamily="34" charset="0"/>
                <a:ea typeface="Calibri" pitchFamily="34" charset="-122"/>
                <a:cs typeface="Calibri" pitchFamily="34" charset="-120"/>
              </a:rPr>
              <a:t>Een betrouwbare extractiepijplijn maken die uit elke transliteratie automatisch kan achterhalen:</a:t>
            </a:r>
            <a:endParaRPr lang="en-US" sz="1300" dirty="0"/>
          </a:p>
        </p:txBody>
      </p:sp>
      <p:sp>
        <p:nvSpPr>
          <p:cNvPr id="8" name="Text 6"/>
          <p:cNvSpPr/>
          <p:nvPr/>
        </p:nvSpPr>
        <p:spPr>
          <a:xfrm>
            <a:off x="914400" y="2377440"/>
            <a:ext cx="3383280" cy="1828800"/>
          </a:xfrm>
          <a:prstGeom prst="rect">
            <a:avLst/>
          </a:prstGeom>
          <a:noFill/>
          <a:ln/>
        </p:spPr>
        <p:txBody>
          <a:bodyPr wrap="square" lIns="0" tIns="0" rIns="0" bIns="0" rtlCol="0" anchor="ctr"/>
          <a:lstStyle/>
          <a:p>
            <a:pPr marL="342900" indent="-342900">
              <a:buSzPct val="100000"/>
              <a:buChar char="•"/>
            </a:pPr>
            <a:r>
              <a:rPr lang="en-US" sz="1300" dirty="0">
                <a:solidFill>
                  <a:srgbClr val="3B2520"/>
                </a:solidFill>
                <a:latin typeface="Calibri" pitchFamily="34" charset="0"/>
                <a:ea typeface="Calibri" pitchFamily="34" charset="-122"/>
                <a:cs typeface="Calibri" pitchFamily="34" charset="-120"/>
              </a:rPr>
              <a:t>Welke dieren (soort, aantal, kwalificaties)</a:t>
            </a:r>
            <a:endParaRPr lang="en-US" sz="1300" dirty="0"/>
          </a:p>
          <a:p>
            <a:pPr marL="342900" indent="-342900">
              <a:buSzPct val="100000"/>
              <a:buChar char="•"/>
            </a:pPr>
            <a:r>
              <a:rPr lang="en-US" sz="1300" dirty="0">
                <a:solidFill>
                  <a:srgbClr val="3B2520"/>
                </a:solidFill>
                <a:latin typeface="Calibri" pitchFamily="34" charset="0"/>
                <a:ea typeface="Calibri" pitchFamily="34" charset="-122"/>
                <a:cs typeface="Calibri" pitchFamily="34" charset="-120"/>
              </a:rPr>
              <a:t>Van wie en naar wie</a:t>
            </a:r>
            <a:endParaRPr lang="en-US" sz="1300" dirty="0"/>
          </a:p>
          <a:p>
            <a:pPr marL="342900" indent="-342900">
              <a:buSzPct val="100000"/>
              <a:buChar char="•"/>
            </a:pPr>
            <a:r>
              <a:rPr lang="en-US" sz="1300" dirty="0">
                <a:solidFill>
                  <a:srgbClr val="3B2520"/>
                </a:solidFill>
                <a:latin typeface="Calibri" pitchFamily="34" charset="0"/>
                <a:ea typeface="Calibri" pitchFamily="34" charset="-122"/>
                <a:cs typeface="Calibri" pitchFamily="34" charset="-120"/>
              </a:rPr>
              <a:t>Wanneer (maand, dag, jaar)</a:t>
            </a:r>
            <a:endParaRPr lang="en-US" sz="1300" dirty="0"/>
          </a:p>
          <a:p>
            <a:pPr marL="342900" indent="-342900">
              <a:buSzPct val="100000"/>
              <a:buChar char="•"/>
            </a:pPr>
            <a:r>
              <a:rPr lang="en-US" sz="1300" dirty="0">
                <a:solidFill>
                  <a:srgbClr val="3B2520"/>
                </a:solidFill>
                <a:latin typeface="Calibri" pitchFamily="34" charset="0"/>
                <a:ea typeface="Calibri" pitchFamily="34" charset="-122"/>
                <a:cs typeface="Calibri" pitchFamily="34" charset="-120"/>
              </a:rPr>
              <a:t>Waarheen (tempel, keuken, paleis)</a:t>
            </a:r>
            <a:endParaRPr lang="en-US" sz="1300" dirty="0"/>
          </a:p>
        </p:txBody>
      </p:sp>
      <p:sp>
        <p:nvSpPr>
          <p:cNvPr id="9" name="Shape 7"/>
          <p:cNvSpPr/>
          <p:nvPr/>
        </p:nvSpPr>
        <p:spPr>
          <a:xfrm>
            <a:off x="4754880" y="1097280"/>
            <a:ext cx="37490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097280"/>
            <a:ext cx="3749040" cy="457200"/>
          </a:xfrm>
          <a:prstGeom prst="rect">
            <a:avLst/>
          </a:prstGeom>
          <a:solidFill>
            <a:srgbClr val="3B2520"/>
          </a:solidFill>
          <a:ln/>
        </p:spPr>
      </p:sp>
      <p:sp>
        <p:nvSpPr>
          <p:cNvPr id="11" name="Text 9"/>
          <p:cNvSpPr/>
          <p:nvPr/>
        </p:nvSpPr>
        <p:spPr>
          <a:xfrm>
            <a:off x="4937760" y="1097280"/>
            <a:ext cx="3383280" cy="45720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Fase 2 — Straks: de scriptie</a:t>
            </a:r>
            <a:endParaRPr lang="en-US" sz="1400" dirty="0"/>
          </a:p>
        </p:txBody>
      </p:sp>
      <p:sp>
        <p:nvSpPr>
          <p:cNvPr id="12" name="Text 10"/>
          <p:cNvSpPr/>
          <p:nvPr/>
        </p:nvSpPr>
        <p:spPr>
          <a:xfrm>
            <a:off x="4937760" y="1737360"/>
            <a:ext cx="3383280" cy="640080"/>
          </a:xfrm>
          <a:prstGeom prst="rect">
            <a:avLst/>
          </a:prstGeom>
          <a:noFill/>
          <a:ln/>
        </p:spPr>
        <p:txBody>
          <a:bodyPr wrap="square" lIns="0" tIns="0" rIns="0" bIns="0" rtlCol="0" anchor="ctr"/>
          <a:lstStyle/>
          <a:p>
            <a:pPr indent="0" marL="0">
              <a:buNone/>
            </a:pPr>
            <a:r>
              <a:rPr lang="en-US" sz="1300" dirty="0">
                <a:solidFill>
                  <a:srgbClr val="3B2520"/>
                </a:solidFill>
                <a:latin typeface="Calibri" pitchFamily="34" charset="0"/>
                <a:ea typeface="Calibri" pitchFamily="34" charset="-122"/>
                <a:cs typeface="Calibri" pitchFamily="34" charset="-120"/>
              </a:rPr>
              <a:t>Met de geëxtraheerde gegevens patronen opsporen en een onderwerp kiezen, bijvoorbeeld:</a:t>
            </a:r>
            <a:endParaRPr lang="en-US" sz="1300" dirty="0"/>
          </a:p>
        </p:txBody>
      </p:sp>
      <p:sp>
        <p:nvSpPr>
          <p:cNvPr id="13" name="Text 11"/>
          <p:cNvSpPr/>
          <p:nvPr/>
        </p:nvSpPr>
        <p:spPr>
          <a:xfrm>
            <a:off x="4937760" y="2377440"/>
            <a:ext cx="3383280" cy="201168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3B2520"/>
                </a:solidFill>
                <a:latin typeface="Calibri" pitchFamily="34" charset="0"/>
                <a:ea typeface="Calibri" pitchFamily="34" charset="-122"/>
                <a:cs typeface="Calibri" pitchFamily="34" charset="-120"/>
              </a:rPr>
              <a:t>Seizoensgebonden offergaven: veranderen de aantallen dieren per maand voor bepaalde goden?</a:t>
            </a:r>
            <a:endParaRPr lang="en-US" sz="1300" dirty="0"/>
          </a:p>
          <a:p>
            <a:pPr marL="342900" indent="-342900">
              <a:spcAft>
                <a:spcPts val="800"/>
              </a:spcAft>
              <a:buSzPct val="100000"/>
              <a:buChar char="•"/>
            </a:pPr>
            <a:r>
              <a:rPr lang="en-US" sz="1300" dirty="0">
                <a:solidFill>
                  <a:srgbClr val="3B2520"/>
                </a:solidFill>
                <a:latin typeface="Calibri" pitchFamily="34" charset="0"/>
                <a:ea typeface="Calibri" pitchFamily="34" charset="-122"/>
                <a:cs typeface="Calibri" pitchFamily="34" charset="-120"/>
              </a:rPr>
              <a:t>Bestuurlijke netwerken: welke ambtenaren beheren welke dierstromen?</a:t>
            </a:r>
            <a:endParaRPr lang="en-US" sz="1300" dirty="0"/>
          </a:p>
          <a:p>
            <a:pPr marL="342900" indent="-342900">
              <a:buSzPct val="100000"/>
              <a:buChar char="•"/>
            </a:pPr>
            <a:r>
              <a:rPr lang="en-US" sz="1300" dirty="0">
                <a:solidFill>
                  <a:srgbClr val="3B2520"/>
                </a:solidFill>
                <a:latin typeface="Calibri" pitchFamily="34" charset="0"/>
                <a:ea typeface="Calibri" pitchFamily="34" charset="-122"/>
                <a:cs typeface="Calibri" pitchFamily="34" charset="-120"/>
              </a:rPr>
              <a:t>Diersoorten door de tijd: verschuift het aanbod over de jaren?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sp>
      <p:sp>
        <p:nvSpPr>
          <p:cNvPr id="3" name="Text 1"/>
          <p:cNvSpPr/>
          <p:nvPr/>
        </p:nvSpPr>
        <p:spPr>
          <a:xfrm>
            <a:off x="731520" y="274320"/>
            <a:ext cx="8229600" cy="640080"/>
          </a:xfrm>
          <a:prstGeom prst="rect">
            <a:avLst/>
          </a:prstGeom>
          <a:noFill/>
          <a:ln/>
        </p:spPr>
        <p:txBody>
          <a:bodyPr wrap="square" lIns="0" tIns="0" rIns="0" bIns="0" rtlCol="0" anchor="ctr"/>
          <a:lstStyle/>
          <a:p>
            <a:pPr indent="0" marL="0">
              <a:buNone/>
            </a:pPr>
            <a:r>
              <a:rPr lang="en-US" sz="3600" b="1" dirty="0">
                <a:solidFill>
                  <a:srgbClr val="3B2520"/>
                </a:solidFill>
                <a:latin typeface="Georgia" pitchFamily="34" charset="0"/>
                <a:ea typeface="Georgia" pitchFamily="34" charset="-122"/>
                <a:cs typeface="Georgia" pitchFamily="34" charset="-120"/>
              </a:rPr>
              <a:t>MIJN AANPAK</a:t>
            </a:r>
            <a:endParaRPr lang="en-US" sz="3600" dirty="0"/>
          </a:p>
        </p:txBody>
      </p:sp>
      <p:sp>
        <p:nvSpPr>
          <p:cNvPr id="4" name="Text 2"/>
          <p:cNvSpPr/>
          <p:nvPr/>
        </p:nvSpPr>
        <p:spPr>
          <a:xfrm>
            <a:off x="731520" y="822960"/>
            <a:ext cx="8229600" cy="365760"/>
          </a:xfrm>
          <a:prstGeom prst="rect">
            <a:avLst/>
          </a:prstGeom>
          <a:noFill/>
          <a:ln/>
        </p:spPr>
        <p:txBody>
          <a:bodyPr wrap="square" lIns="0" tIns="0" rIns="0" bIns="0" rtlCol="0" anchor="ctr"/>
          <a:lstStyle/>
          <a:p>
            <a:pPr indent="0" marL="0">
              <a:buNone/>
            </a:pPr>
            <a:r>
              <a:rPr lang="en-US" sz="1400" i="1" dirty="0">
                <a:solidFill>
                  <a:srgbClr val="B85042"/>
                </a:solidFill>
                <a:latin typeface="Calibri" pitchFamily="34" charset="0"/>
                <a:ea typeface="Calibri" pitchFamily="34" charset="-122"/>
                <a:cs typeface="Calibri" pitchFamily="34" charset="-120"/>
              </a:rPr>
              <a:t>Regelgebaseerde informatie-extractie</a:t>
            </a:r>
            <a:endParaRPr lang="en-US" sz="1400" dirty="0"/>
          </a:p>
        </p:txBody>
      </p:sp>
      <p:sp>
        <p:nvSpPr>
          <p:cNvPr id="5" name="Shape 3"/>
          <p:cNvSpPr/>
          <p:nvPr/>
        </p:nvSpPr>
        <p:spPr>
          <a:xfrm>
            <a:off x="731520" y="1280160"/>
            <a:ext cx="7680960" cy="640080"/>
          </a:xfrm>
          <a:prstGeom prst="rect">
            <a:avLst/>
          </a:prstGeom>
          <a:solidFill>
            <a:srgbClr val="FFF8F0"/>
          </a:solidFill>
          <a:ln/>
          <a:effectLst>
            <a:outerShdw sx="100000" sy="100000" kx="0" ky="0" algn="bl" rotWithShape="0" blurRad="50800" dist="25400" dir="8100000">
              <a:srgbClr val="000000">
                <a:alpha val="10000"/>
              </a:srgbClr>
            </a:outerShdw>
          </a:effectLst>
        </p:spPr>
      </p:sp>
      <p:sp>
        <p:nvSpPr>
          <p:cNvPr id="6" name="Shape 4"/>
          <p:cNvSpPr/>
          <p:nvPr/>
        </p:nvSpPr>
        <p:spPr>
          <a:xfrm>
            <a:off x="731520" y="1280160"/>
            <a:ext cx="64008" cy="640080"/>
          </a:xfrm>
          <a:prstGeom prst="rect">
            <a:avLst/>
          </a:prstGeom>
          <a:solidFill>
            <a:srgbClr val="D4943A"/>
          </a:solidFill>
          <a:ln/>
        </p:spPr>
      </p:sp>
      <p:pic>
        <p:nvPicPr>
          <p:cNvPr id="7" name="Image 0" descr="preencoded.png">    </p:cNvPr>
          <p:cNvPicPr>
            <a:picLocks noChangeAspect="1"/>
          </p:cNvPicPr>
          <p:nvPr/>
        </p:nvPicPr>
        <p:blipFill>
          <a:blip r:embed="rId1"/>
          <a:stretch>
            <a:fillRect/>
          </a:stretch>
        </p:blipFill>
        <p:spPr>
          <a:xfrm>
            <a:off x="960120" y="1389888"/>
            <a:ext cx="320040" cy="320040"/>
          </a:xfrm>
          <a:prstGeom prst="rect">
            <a:avLst/>
          </a:prstGeom>
        </p:spPr>
      </p:pic>
      <p:sp>
        <p:nvSpPr>
          <p:cNvPr id="8" name="Text 5"/>
          <p:cNvSpPr/>
          <p:nvPr/>
        </p:nvSpPr>
        <p:spPr>
          <a:xfrm>
            <a:off x="1417320" y="1280160"/>
            <a:ext cx="6766560" cy="640080"/>
          </a:xfrm>
          <a:prstGeom prst="rect">
            <a:avLst/>
          </a:prstGeom>
          <a:noFill/>
          <a:ln/>
        </p:spPr>
        <p:txBody>
          <a:bodyPr wrap="square" lIns="0" tIns="0" rIns="0" bIns="0" rtlCol="0" anchor="ctr"/>
          <a:lstStyle/>
          <a:p>
            <a:pPr indent="0" marL="0">
              <a:buNone/>
            </a:pPr>
            <a:r>
              <a:rPr lang="en-US" sz="1300" i="1" dirty="0">
                <a:solidFill>
                  <a:srgbClr val="3B2520"/>
                </a:solidFill>
                <a:latin typeface="Calibri" pitchFamily="34" charset="0"/>
                <a:ea typeface="Calibri" pitchFamily="34" charset="-122"/>
                <a:cs typeface="Calibri" pitchFamily="34" charset="-120"/>
              </a:rPr>
              <a:t>Geen AI, maar een recept: als je dit woord ziet, is het een dier; als je dat woord ziet, is het een persoon. Vaste regels, transparant en controleerbaar.</a:t>
            </a:r>
            <a:endParaRPr lang="en-US" sz="1300" dirty="0"/>
          </a:p>
        </p:txBody>
      </p:sp>
      <p:sp>
        <p:nvSpPr>
          <p:cNvPr id="9" name="Shape 6"/>
          <p:cNvSpPr/>
          <p:nvPr/>
        </p:nvSpPr>
        <p:spPr>
          <a:xfrm>
            <a:off x="457200" y="2194560"/>
            <a:ext cx="1463040" cy="685800"/>
          </a:xfrm>
          <a:prstGeom prst="rect">
            <a:avLst/>
          </a:prstGeom>
          <a:solidFill>
            <a:srgbClr val="3B2520"/>
          </a:solidFill>
          <a:ln/>
        </p:spPr>
      </p:sp>
      <p:sp>
        <p:nvSpPr>
          <p:cNvPr id="10" name="Text 7"/>
          <p:cNvSpPr/>
          <p:nvPr/>
        </p:nvSpPr>
        <p:spPr>
          <a:xfrm>
            <a:off x="457200" y="2194560"/>
            <a:ext cx="146304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Transliteratie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inlezen</a:t>
            </a:r>
            <a:endParaRPr lang="en-US" sz="1100" dirty="0"/>
          </a:p>
        </p:txBody>
      </p:sp>
      <p:sp>
        <p:nvSpPr>
          <p:cNvPr id="11" name="Text 8"/>
          <p:cNvSpPr/>
          <p:nvPr/>
        </p:nvSpPr>
        <p:spPr>
          <a:xfrm>
            <a:off x="1920240" y="2194560"/>
            <a:ext cx="320040" cy="685800"/>
          </a:xfrm>
          <a:prstGeom prst="rect">
            <a:avLst/>
          </a:prstGeom>
          <a:noFill/>
          <a:ln/>
        </p:spPr>
        <p:txBody>
          <a:bodyPr wrap="square" lIns="0" tIns="0" rIns="0" bIns="0" rtlCol="0" anchor="ctr"/>
          <a:lstStyle/>
          <a:p>
            <a:pPr algn="ctr" indent="0" marL="0">
              <a:buNone/>
            </a:pPr>
            <a:r>
              <a:rPr lang="en-US" sz="1800" dirty="0">
                <a:solidFill>
                  <a:srgbClr val="8B7D75"/>
                </a:solidFill>
              </a:rPr>
              <a:t>→</a:t>
            </a:r>
            <a:endParaRPr lang="en-US" sz="1800" dirty="0"/>
          </a:p>
        </p:txBody>
      </p:sp>
      <p:sp>
        <p:nvSpPr>
          <p:cNvPr id="12" name="Shape 9"/>
          <p:cNvSpPr/>
          <p:nvPr/>
        </p:nvSpPr>
        <p:spPr>
          <a:xfrm>
            <a:off x="2240280" y="2194560"/>
            <a:ext cx="1463040" cy="685800"/>
          </a:xfrm>
          <a:prstGeom prst="rect">
            <a:avLst/>
          </a:prstGeom>
          <a:solidFill>
            <a:srgbClr val="B85042"/>
          </a:solidFill>
          <a:ln/>
        </p:spPr>
      </p:sp>
      <p:sp>
        <p:nvSpPr>
          <p:cNvPr id="13" name="Text 10"/>
          <p:cNvSpPr/>
          <p:nvPr/>
        </p:nvSpPr>
        <p:spPr>
          <a:xfrm>
            <a:off x="2240280" y="2194560"/>
            <a:ext cx="146304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Tekst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opschonen</a:t>
            </a:r>
            <a:endParaRPr lang="en-US" sz="1100" dirty="0"/>
          </a:p>
        </p:txBody>
      </p:sp>
      <p:sp>
        <p:nvSpPr>
          <p:cNvPr id="14" name="Text 11"/>
          <p:cNvSpPr/>
          <p:nvPr/>
        </p:nvSpPr>
        <p:spPr>
          <a:xfrm>
            <a:off x="3703320" y="2194560"/>
            <a:ext cx="320040" cy="685800"/>
          </a:xfrm>
          <a:prstGeom prst="rect">
            <a:avLst/>
          </a:prstGeom>
          <a:noFill/>
          <a:ln/>
        </p:spPr>
        <p:txBody>
          <a:bodyPr wrap="square" lIns="0" tIns="0" rIns="0" bIns="0" rtlCol="0" anchor="ctr"/>
          <a:lstStyle/>
          <a:p>
            <a:pPr algn="ctr" indent="0" marL="0">
              <a:buNone/>
            </a:pPr>
            <a:r>
              <a:rPr lang="en-US" sz="1800" dirty="0">
                <a:solidFill>
                  <a:srgbClr val="8B7D75"/>
                </a:solidFill>
              </a:rPr>
              <a:t>→</a:t>
            </a:r>
            <a:endParaRPr lang="en-US" sz="1800" dirty="0"/>
          </a:p>
        </p:txBody>
      </p:sp>
      <p:sp>
        <p:nvSpPr>
          <p:cNvPr id="15" name="Shape 12"/>
          <p:cNvSpPr/>
          <p:nvPr/>
        </p:nvSpPr>
        <p:spPr>
          <a:xfrm>
            <a:off x="4023360" y="2194560"/>
            <a:ext cx="1463040" cy="685800"/>
          </a:xfrm>
          <a:prstGeom prst="rect">
            <a:avLst/>
          </a:prstGeom>
          <a:solidFill>
            <a:srgbClr val="8B9A6B"/>
          </a:solidFill>
          <a:ln/>
        </p:spPr>
      </p:sp>
      <p:sp>
        <p:nvSpPr>
          <p:cNvPr id="16" name="Text 13"/>
          <p:cNvSpPr/>
          <p:nvPr/>
        </p:nvSpPr>
        <p:spPr>
          <a:xfrm>
            <a:off x="4023360" y="2194560"/>
            <a:ext cx="146304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Elk woord</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classificeren</a:t>
            </a:r>
            <a:endParaRPr lang="en-US" sz="1100" dirty="0"/>
          </a:p>
        </p:txBody>
      </p:sp>
      <p:sp>
        <p:nvSpPr>
          <p:cNvPr id="17" name="Text 14"/>
          <p:cNvSpPr/>
          <p:nvPr/>
        </p:nvSpPr>
        <p:spPr>
          <a:xfrm>
            <a:off x="5486400" y="2194560"/>
            <a:ext cx="320040" cy="685800"/>
          </a:xfrm>
          <a:prstGeom prst="rect">
            <a:avLst/>
          </a:prstGeom>
          <a:noFill/>
          <a:ln/>
        </p:spPr>
        <p:txBody>
          <a:bodyPr wrap="square" lIns="0" tIns="0" rIns="0" bIns="0" rtlCol="0" anchor="ctr"/>
          <a:lstStyle/>
          <a:p>
            <a:pPr algn="ctr" indent="0" marL="0">
              <a:buNone/>
            </a:pPr>
            <a:r>
              <a:rPr lang="en-US" sz="1800" dirty="0">
                <a:solidFill>
                  <a:srgbClr val="8B7D75"/>
                </a:solidFill>
              </a:rPr>
              <a:t>→</a:t>
            </a:r>
            <a:endParaRPr lang="en-US" sz="1800" dirty="0"/>
          </a:p>
        </p:txBody>
      </p:sp>
      <p:sp>
        <p:nvSpPr>
          <p:cNvPr id="18" name="Shape 15"/>
          <p:cNvSpPr/>
          <p:nvPr/>
        </p:nvSpPr>
        <p:spPr>
          <a:xfrm>
            <a:off x="5806440" y="2194560"/>
            <a:ext cx="1463040" cy="685800"/>
          </a:xfrm>
          <a:prstGeom prst="rect">
            <a:avLst/>
          </a:prstGeom>
          <a:solidFill>
            <a:srgbClr val="B8976B"/>
          </a:solidFill>
          <a:ln/>
        </p:spPr>
      </p:sp>
      <p:sp>
        <p:nvSpPr>
          <p:cNvPr id="19" name="Text 16"/>
          <p:cNvSpPr/>
          <p:nvPr/>
        </p:nvSpPr>
        <p:spPr>
          <a:xfrm>
            <a:off x="5806440" y="2194560"/>
            <a:ext cx="146304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Informatie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samenvoegen</a:t>
            </a:r>
            <a:endParaRPr lang="en-US" sz="1100" dirty="0"/>
          </a:p>
        </p:txBody>
      </p:sp>
      <p:sp>
        <p:nvSpPr>
          <p:cNvPr id="20" name="Text 17"/>
          <p:cNvSpPr/>
          <p:nvPr/>
        </p:nvSpPr>
        <p:spPr>
          <a:xfrm>
            <a:off x="7269480" y="2194560"/>
            <a:ext cx="320040" cy="685800"/>
          </a:xfrm>
          <a:prstGeom prst="rect">
            <a:avLst/>
          </a:prstGeom>
          <a:noFill/>
          <a:ln/>
        </p:spPr>
        <p:txBody>
          <a:bodyPr wrap="square" lIns="0" tIns="0" rIns="0" bIns="0" rtlCol="0" anchor="ctr"/>
          <a:lstStyle/>
          <a:p>
            <a:pPr algn="ctr" indent="0" marL="0">
              <a:buNone/>
            </a:pPr>
            <a:r>
              <a:rPr lang="en-US" sz="1800" dirty="0">
                <a:solidFill>
                  <a:srgbClr val="8B7D75"/>
                </a:solidFill>
              </a:rPr>
              <a:t>→</a:t>
            </a:r>
            <a:endParaRPr lang="en-US" sz="1800" dirty="0"/>
          </a:p>
        </p:txBody>
      </p:sp>
      <p:sp>
        <p:nvSpPr>
          <p:cNvPr id="21" name="Shape 18"/>
          <p:cNvSpPr/>
          <p:nvPr/>
        </p:nvSpPr>
        <p:spPr>
          <a:xfrm>
            <a:off x="7589520" y="2194560"/>
            <a:ext cx="1463040" cy="685800"/>
          </a:xfrm>
          <a:prstGeom prst="rect">
            <a:avLst/>
          </a:prstGeom>
          <a:solidFill>
            <a:srgbClr val="3B2520"/>
          </a:solidFill>
          <a:ln/>
        </p:spPr>
      </p:sp>
      <p:sp>
        <p:nvSpPr>
          <p:cNvPr id="22" name="Text 19"/>
          <p:cNvSpPr/>
          <p:nvPr/>
        </p:nvSpPr>
        <p:spPr>
          <a:xfrm>
            <a:off x="7589520" y="2194560"/>
            <a:ext cx="146304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Gestructureerd</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resultaat</a:t>
            </a:r>
            <a:endParaRPr lang="en-US" sz="1100" dirty="0"/>
          </a:p>
        </p:txBody>
      </p:sp>
      <p:sp>
        <p:nvSpPr>
          <p:cNvPr id="23" name="Shape 20"/>
          <p:cNvSpPr/>
          <p:nvPr/>
        </p:nvSpPr>
        <p:spPr>
          <a:xfrm>
            <a:off x="731520" y="3200400"/>
            <a:ext cx="7680960" cy="1554480"/>
          </a:xfrm>
          <a:prstGeom prst="rect">
            <a:avLst/>
          </a:prstGeom>
          <a:solidFill>
            <a:srgbClr val="E7E8D1"/>
          </a:solidFill>
          <a:ln/>
          <a:effectLst>
            <a:outerShdw sx="100000" sy="100000" kx="0" ky="0" algn="bl" rotWithShape="0" blurRad="50800" dist="25400" dir="8100000">
              <a:srgbClr val="000000">
                <a:alpha val="10000"/>
              </a:srgbClr>
            </a:outerShdw>
          </a:effectLst>
        </p:spPr>
      </p:sp>
      <p:sp>
        <p:nvSpPr>
          <p:cNvPr id="24" name="Text 21"/>
          <p:cNvSpPr/>
          <p:nvPr/>
        </p:nvSpPr>
        <p:spPr>
          <a:xfrm>
            <a:off x="914400" y="3291840"/>
            <a:ext cx="7315200" cy="365760"/>
          </a:xfrm>
          <a:prstGeom prst="rect">
            <a:avLst/>
          </a:prstGeom>
          <a:noFill/>
          <a:ln/>
        </p:spPr>
        <p:txBody>
          <a:bodyPr wrap="square" lIns="0" tIns="0" rIns="0" bIns="0" rtlCol="0" anchor="ctr"/>
          <a:lstStyle/>
          <a:p>
            <a:pPr indent="0" marL="0">
              <a:buNone/>
            </a:pPr>
            <a:r>
              <a:rPr lang="en-US" sz="1500" b="1" dirty="0">
                <a:solidFill>
                  <a:srgbClr val="3B2520"/>
                </a:solidFill>
                <a:latin typeface="Georgia" pitchFamily="34" charset="0"/>
                <a:ea typeface="Georgia" pitchFamily="34" charset="-122"/>
                <a:cs typeface="Georgia" pitchFamily="34" charset="-120"/>
              </a:rPr>
              <a:t>Van transliteratie naar databankrij</a:t>
            </a:r>
            <a:endParaRPr lang="en-US" sz="1500" dirty="0"/>
          </a:p>
        </p:txBody>
      </p:sp>
      <p:sp>
        <p:nvSpPr>
          <p:cNvPr id="25" name="Text 22"/>
          <p:cNvSpPr/>
          <p:nvPr/>
        </p:nvSpPr>
        <p:spPr>
          <a:xfrm>
            <a:off x="914400" y="3611880"/>
            <a:ext cx="7315200" cy="365760"/>
          </a:xfrm>
          <a:prstGeom prst="rect">
            <a:avLst/>
          </a:prstGeom>
          <a:noFill/>
          <a:ln/>
        </p:spPr>
        <p:txBody>
          <a:bodyPr wrap="square" lIns="0" tIns="0" rIns="0" bIns="0" rtlCol="0" anchor="ctr"/>
          <a:lstStyle/>
          <a:p>
            <a:pPr indent="0" marL="0">
              <a:buNone/>
            </a:pPr>
            <a:r>
              <a:rPr lang="en-US" sz="1100" dirty="0">
                <a:solidFill>
                  <a:srgbClr val="3B2520"/>
                </a:solidFill>
                <a:latin typeface="Calibri" pitchFamily="34" charset="0"/>
                <a:ea typeface="Calibri" pitchFamily="34" charset="-122"/>
                <a:cs typeface="Calibri" pitchFamily="34" charset="-120"/>
              </a:rPr>
              <a:t>Elk woord wordt vergeleken met woordenlijsten: bekende diersoorten, kwalificaties, transactietermen, maandnamen en persoonsnamen (uit de ORACC-databank).</a:t>
            </a:r>
            <a:endParaRPr lang="en-US" sz="1100" dirty="0"/>
          </a:p>
        </p:txBody>
      </p:sp>
      <p:sp>
        <p:nvSpPr>
          <p:cNvPr id="26" name="Text 23"/>
          <p:cNvSpPr/>
          <p:nvPr/>
        </p:nvSpPr>
        <p:spPr>
          <a:xfrm>
            <a:off x="914400" y="3840480"/>
            <a:ext cx="7315200" cy="274320"/>
          </a:xfrm>
          <a:prstGeom prst="rect">
            <a:avLst/>
          </a:prstGeom>
          <a:noFill/>
          <a:ln/>
        </p:spPr>
        <p:txBody>
          <a:bodyPr wrap="square" lIns="0" tIns="0" rIns="0" bIns="0" rtlCol="0" anchor="ctr"/>
          <a:lstStyle/>
          <a:p>
            <a:pPr indent="0" marL="0">
              <a:buNone/>
            </a:pPr>
            <a:r>
              <a:rPr lang="en-US" sz="1200" b="1" dirty="0">
                <a:solidFill>
                  <a:srgbClr val="3B2520"/>
                </a:solidFill>
                <a:latin typeface="Calibri" pitchFamily="34" charset="0"/>
                <a:ea typeface="Calibri" pitchFamily="34" charset="-122"/>
                <a:cs typeface="Calibri" pitchFamily="34" charset="-120"/>
              </a:rPr>
              <a:t>Resultaat per tablet = één rij in een databank:</a:t>
            </a:r>
            <a:endParaRPr lang="en-US" sz="1200" dirty="0"/>
          </a:p>
        </p:txBody>
      </p:sp>
      <p:sp>
        <p:nvSpPr>
          <p:cNvPr id="27" name="Shape 24"/>
          <p:cNvSpPr/>
          <p:nvPr/>
        </p:nvSpPr>
        <p:spPr>
          <a:xfrm>
            <a:off x="914400" y="4160520"/>
            <a:ext cx="960120" cy="256032"/>
          </a:xfrm>
          <a:prstGeom prst="rect">
            <a:avLst/>
          </a:prstGeom>
          <a:solidFill>
            <a:srgbClr val="E8E0D0"/>
          </a:solidFill>
          <a:ln/>
        </p:spPr>
      </p:sp>
      <p:sp>
        <p:nvSpPr>
          <p:cNvPr id="28" name="Text 25"/>
          <p:cNvSpPr/>
          <p:nvPr/>
        </p:nvSpPr>
        <p:spPr>
          <a:xfrm>
            <a:off x="914400" y="4160520"/>
            <a:ext cx="960120" cy="256032"/>
          </a:xfrm>
          <a:prstGeom prst="rect">
            <a:avLst/>
          </a:prstGeom>
          <a:noFill/>
          <a:ln/>
        </p:spPr>
        <p:txBody>
          <a:bodyPr wrap="square" lIns="0" tIns="0" rIns="0" bIns="0" rtlCol="0" anchor="ctr"/>
          <a:lstStyle/>
          <a:p>
            <a:pPr algn="ctr" indent="0" marL="0">
              <a:buNone/>
            </a:pPr>
            <a:r>
              <a:rPr lang="en-US" sz="800" b="1" dirty="0">
                <a:solidFill>
                  <a:srgbClr val="3B2520"/>
                </a:solidFill>
                <a:latin typeface="Consolas" pitchFamily="34" charset="0"/>
                <a:ea typeface="Consolas" pitchFamily="34" charset="-122"/>
                <a:cs typeface="Consolas" pitchFamily="34" charset="-120"/>
              </a:rPr>
              <a:t>tablet_id</a:t>
            </a:r>
            <a:endParaRPr lang="en-US" sz="800" dirty="0"/>
          </a:p>
        </p:txBody>
      </p:sp>
      <p:sp>
        <p:nvSpPr>
          <p:cNvPr id="29" name="Shape 26"/>
          <p:cNvSpPr/>
          <p:nvPr/>
        </p:nvSpPr>
        <p:spPr>
          <a:xfrm>
            <a:off x="914400" y="4416552"/>
            <a:ext cx="960120" cy="256032"/>
          </a:xfrm>
          <a:prstGeom prst="rect">
            <a:avLst/>
          </a:prstGeom>
          <a:solidFill>
            <a:srgbClr val="FFFFFF"/>
          </a:solidFill>
          <a:ln/>
        </p:spPr>
      </p:sp>
      <p:sp>
        <p:nvSpPr>
          <p:cNvPr id="30" name="Text 27"/>
          <p:cNvSpPr/>
          <p:nvPr/>
        </p:nvSpPr>
        <p:spPr>
          <a:xfrm>
            <a:off x="914400" y="4416552"/>
            <a:ext cx="960120" cy="256032"/>
          </a:xfrm>
          <a:prstGeom prst="rect">
            <a:avLst/>
          </a:prstGeom>
          <a:noFill/>
          <a:ln/>
        </p:spPr>
        <p:txBody>
          <a:bodyPr wrap="square" lIns="0" tIns="0" rIns="0" bIns="0" rtlCol="0" anchor="ctr"/>
          <a:lstStyle/>
          <a:p>
            <a:pPr algn="ctr" indent="0" marL="0">
              <a:buNone/>
            </a:pPr>
            <a:r>
              <a:rPr lang="en-US" sz="800" dirty="0">
                <a:solidFill>
                  <a:srgbClr val="3B2520"/>
                </a:solidFill>
                <a:latin typeface="Consolas" pitchFamily="34" charset="0"/>
                <a:ea typeface="Consolas" pitchFamily="34" charset="-122"/>
                <a:cs typeface="Consolas" pitchFamily="34" charset="-120"/>
              </a:rPr>
              <a:t>P100189</a:t>
            </a:r>
            <a:endParaRPr lang="en-US" sz="800" dirty="0"/>
          </a:p>
        </p:txBody>
      </p:sp>
      <p:sp>
        <p:nvSpPr>
          <p:cNvPr id="31" name="Shape 28"/>
          <p:cNvSpPr/>
          <p:nvPr/>
        </p:nvSpPr>
        <p:spPr>
          <a:xfrm>
            <a:off x="1874520" y="4160520"/>
            <a:ext cx="914400" cy="256032"/>
          </a:xfrm>
          <a:prstGeom prst="rect">
            <a:avLst/>
          </a:prstGeom>
          <a:solidFill>
            <a:srgbClr val="E8E0D0"/>
          </a:solidFill>
          <a:ln/>
        </p:spPr>
      </p:sp>
      <p:sp>
        <p:nvSpPr>
          <p:cNvPr id="32" name="Text 29"/>
          <p:cNvSpPr/>
          <p:nvPr/>
        </p:nvSpPr>
        <p:spPr>
          <a:xfrm>
            <a:off x="1874520" y="4160520"/>
            <a:ext cx="914400" cy="256032"/>
          </a:xfrm>
          <a:prstGeom prst="rect">
            <a:avLst/>
          </a:prstGeom>
          <a:noFill/>
          <a:ln/>
        </p:spPr>
        <p:txBody>
          <a:bodyPr wrap="square" lIns="0" tIns="0" rIns="0" bIns="0" rtlCol="0" anchor="ctr"/>
          <a:lstStyle/>
          <a:p>
            <a:pPr algn="ctr" indent="0" marL="0">
              <a:buNone/>
            </a:pPr>
            <a:r>
              <a:rPr lang="en-US" sz="800" b="1" dirty="0">
                <a:solidFill>
                  <a:srgbClr val="3B2520"/>
                </a:solidFill>
                <a:latin typeface="Consolas" pitchFamily="34" charset="0"/>
                <a:ea typeface="Consolas" pitchFamily="34" charset="-122"/>
                <a:cs typeface="Consolas" pitchFamily="34" charset="-120"/>
              </a:rPr>
              <a:t>transactie</a:t>
            </a:r>
            <a:endParaRPr lang="en-US" sz="800" dirty="0"/>
          </a:p>
        </p:txBody>
      </p:sp>
      <p:sp>
        <p:nvSpPr>
          <p:cNvPr id="33" name="Shape 30"/>
          <p:cNvSpPr/>
          <p:nvPr/>
        </p:nvSpPr>
        <p:spPr>
          <a:xfrm>
            <a:off x="1874520" y="4416552"/>
            <a:ext cx="914400" cy="256032"/>
          </a:xfrm>
          <a:prstGeom prst="rect">
            <a:avLst/>
          </a:prstGeom>
          <a:solidFill>
            <a:srgbClr val="FFFFFF"/>
          </a:solidFill>
          <a:ln/>
        </p:spPr>
      </p:sp>
      <p:sp>
        <p:nvSpPr>
          <p:cNvPr id="34" name="Text 31"/>
          <p:cNvSpPr/>
          <p:nvPr/>
        </p:nvSpPr>
        <p:spPr>
          <a:xfrm>
            <a:off x="1874520" y="4416552"/>
            <a:ext cx="914400" cy="256032"/>
          </a:xfrm>
          <a:prstGeom prst="rect">
            <a:avLst/>
          </a:prstGeom>
          <a:noFill/>
          <a:ln/>
        </p:spPr>
        <p:txBody>
          <a:bodyPr wrap="square" lIns="0" tIns="0" rIns="0" bIns="0" rtlCol="0" anchor="ctr"/>
          <a:lstStyle/>
          <a:p>
            <a:pPr algn="ctr" indent="0" marL="0">
              <a:buNone/>
            </a:pPr>
            <a:r>
              <a:rPr lang="en-US" sz="800" dirty="0">
                <a:solidFill>
                  <a:srgbClr val="3B2520"/>
                </a:solidFill>
                <a:latin typeface="Consolas" pitchFamily="34" charset="0"/>
                <a:ea typeface="Consolas" pitchFamily="34" charset="-122"/>
                <a:cs typeface="Consolas" pitchFamily="34" charset="-120"/>
              </a:rPr>
              <a:t>ontvangst</a:t>
            </a:r>
            <a:endParaRPr lang="en-US" sz="800" dirty="0"/>
          </a:p>
        </p:txBody>
      </p:sp>
      <p:sp>
        <p:nvSpPr>
          <p:cNvPr id="35" name="Shape 32"/>
          <p:cNvSpPr/>
          <p:nvPr/>
        </p:nvSpPr>
        <p:spPr>
          <a:xfrm>
            <a:off x="2788920" y="4160520"/>
            <a:ext cx="1188720" cy="256032"/>
          </a:xfrm>
          <a:prstGeom prst="rect">
            <a:avLst/>
          </a:prstGeom>
          <a:solidFill>
            <a:srgbClr val="E8E0D0"/>
          </a:solidFill>
          <a:ln/>
        </p:spPr>
      </p:sp>
      <p:sp>
        <p:nvSpPr>
          <p:cNvPr id="36" name="Text 33"/>
          <p:cNvSpPr/>
          <p:nvPr/>
        </p:nvSpPr>
        <p:spPr>
          <a:xfrm>
            <a:off x="2788920" y="4160520"/>
            <a:ext cx="1188720" cy="256032"/>
          </a:xfrm>
          <a:prstGeom prst="rect">
            <a:avLst/>
          </a:prstGeom>
          <a:noFill/>
          <a:ln/>
        </p:spPr>
        <p:txBody>
          <a:bodyPr wrap="square" lIns="0" tIns="0" rIns="0" bIns="0" rtlCol="0" anchor="ctr"/>
          <a:lstStyle/>
          <a:p>
            <a:pPr algn="ctr" indent="0" marL="0">
              <a:buNone/>
            </a:pPr>
            <a:r>
              <a:rPr lang="en-US" sz="800" b="1" dirty="0">
                <a:solidFill>
                  <a:srgbClr val="3B2520"/>
                </a:solidFill>
                <a:latin typeface="Consolas" pitchFamily="34" charset="0"/>
                <a:ea typeface="Consolas" pitchFamily="34" charset="-122"/>
                <a:cs typeface="Consolas" pitchFamily="34" charset="-120"/>
              </a:rPr>
              <a:t>dieren</a:t>
            </a:r>
            <a:endParaRPr lang="en-US" sz="800" dirty="0"/>
          </a:p>
        </p:txBody>
      </p:sp>
      <p:sp>
        <p:nvSpPr>
          <p:cNvPr id="37" name="Shape 34"/>
          <p:cNvSpPr/>
          <p:nvPr/>
        </p:nvSpPr>
        <p:spPr>
          <a:xfrm>
            <a:off x="2788920" y="4416552"/>
            <a:ext cx="1188720" cy="256032"/>
          </a:xfrm>
          <a:prstGeom prst="rect">
            <a:avLst/>
          </a:prstGeom>
          <a:solidFill>
            <a:srgbClr val="FFFFFF"/>
          </a:solidFill>
          <a:ln/>
        </p:spPr>
      </p:sp>
      <p:sp>
        <p:nvSpPr>
          <p:cNvPr id="38" name="Text 35"/>
          <p:cNvSpPr/>
          <p:nvPr/>
        </p:nvSpPr>
        <p:spPr>
          <a:xfrm>
            <a:off x="2788920" y="4416552"/>
            <a:ext cx="1188720" cy="256032"/>
          </a:xfrm>
          <a:prstGeom prst="rect">
            <a:avLst/>
          </a:prstGeom>
          <a:noFill/>
          <a:ln/>
        </p:spPr>
        <p:txBody>
          <a:bodyPr wrap="square" lIns="0" tIns="0" rIns="0" bIns="0" rtlCol="0" anchor="ctr"/>
          <a:lstStyle/>
          <a:p>
            <a:pPr algn="ctr" indent="0" marL="0">
              <a:buNone/>
            </a:pPr>
            <a:r>
              <a:rPr lang="en-US" sz="800" dirty="0">
                <a:solidFill>
                  <a:srgbClr val="3B2520"/>
                </a:solidFill>
                <a:latin typeface="Consolas" pitchFamily="34" charset="0"/>
                <a:ea typeface="Consolas" pitchFamily="34" charset="-122"/>
                <a:cs typeface="Consolas" pitchFamily="34" charset="-120"/>
              </a:rPr>
              <a:t>2×udu, 1×sila4</a:t>
            </a:r>
            <a:endParaRPr lang="en-US" sz="800" dirty="0"/>
          </a:p>
        </p:txBody>
      </p:sp>
      <p:sp>
        <p:nvSpPr>
          <p:cNvPr id="39" name="Shape 36"/>
          <p:cNvSpPr/>
          <p:nvPr/>
        </p:nvSpPr>
        <p:spPr>
          <a:xfrm>
            <a:off x="3977640" y="4160520"/>
            <a:ext cx="1188720" cy="256032"/>
          </a:xfrm>
          <a:prstGeom prst="rect">
            <a:avLst/>
          </a:prstGeom>
          <a:solidFill>
            <a:srgbClr val="E8E0D0"/>
          </a:solidFill>
          <a:ln/>
        </p:spPr>
      </p:sp>
      <p:sp>
        <p:nvSpPr>
          <p:cNvPr id="40" name="Text 37"/>
          <p:cNvSpPr/>
          <p:nvPr/>
        </p:nvSpPr>
        <p:spPr>
          <a:xfrm>
            <a:off x="3977640" y="4160520"/>
            <a:ext cx="1188720" cy="256032"/>
          </a:xfrm>
          <a:prstGeom prst="rect">
            <a:avLst/>
          </a:prstGeom>
          <a:noFill/>
          <a:ln/>
        </p:spPr>
        <p:txBody>
          <a:bodyPr wrap="square" lIns="0" tIns="0" rIns="0" bIns="0" rtlCol="0" anchor="ctr"/>
          <a:lstStyle/>
          <a:p>
            <a:pPr algn="ctr" indent="0" marL="0">
              <a:buNone/>
            </a:pPr>
            <a:r>
              <a:rPr lang="en-US" sz="800" b="1" dirty="0">
                <a:solidFill>
                  <a:srgbClr val="3B2520"/>
                </a:solidFill>
                <a:latin typeface="Consolas" pitchFamily="34" charset="0"/>
                <a:ea typeface="Consolas" pitchFamily="34" charset="-122"/>
                <a:cs typeface="Consolas" pitchFamily="34" charset="-120"/>
              </a:rPr>
              <a:t>bron</a:t>
            </a:r>
            <a:endParaRPr lang="en-US" sz="800" dirty="0"/>
          </a:p>
        </p:txBody>
      </p:sp>
      <p:sp>
        <p:nvSpPr>
          <p:cNvPr id="41" name="Shape 38"/>
          <p:cNvSpPr/>
          <p:nvPr/>
        </p:nvSpPr>
        <p:spPr>
          <a:xfrm>
            <a:off x="3977640" y="4416552"/>
            <a:ext cx="1188720" cy="256032"/>
          </a:xfrm>
          <a:prstGeom prst="rect">
            <a:avLst/>
          </a:prstGeom>
          <a:solidFill>
            <a:srgbClr val="FFFFFF"/>
          </a:solidFill>
          <a:ln/>
        </p:spPr>
      </p:sp>
      <p:sp>
        <p:nvSpPr>
          <p:cNvPr id="42" name="Text 39"/>
          <p:cNvSpPr/>
          <p:nvPr/>
        </p:nvSpPr>
        <p:spPr>
          <a:xfrm>
            <a:off x="3977640" y="4416552"/>
            <a:ext cx="1188720" cy="256032"/>
          </a:xfrm>
          <a:prstGeom prst="rect">
            <a:avLst/>
          </a:prstGeom>
          <a:noFill/>
          <a:ln/>
        </p:spPr>
        <p:txBody>
          <a:bodyPr wrap="square" lIns="0" tIns="0" rIns="0" bIns="0" rtlCol="0" anchor="ctr"/>
          <a:lstStyle/>
          <a:p>
            <a:pPr algn="ctr" indent="0" marL="0">
              <a:buNone/>
            </a:pPr>
            <a:r>
              <a:rPr lang="en-US" sz="800" dirty="0">
                <a:solidFill>
                  <a:srgbClr val="3B2520"/>
                </a:solidFill>
                <a:latin typeface="Consolas" pitchFamily="34" charset="0"/>
                <a:ea typeface="Consolas" pitchFamily="34" charset="-122"/>
                <a:cs typeface="Consolas" pitchFamily="34" charset="-120"/>
              </a:rPr>
              <a:t>lu2-dingir-ra</a:t>
            </a:r>
            <a:endParaRPr lang="en-US" sz="800" dirty="0"/>
          </a:p>
        </p:txBody>
      </p:sp>
      <p:sp>
        <p:nvSpPr>
          <p:cNvPr id="43" name="Shape 40"/>
          <p:cNvSpPr/>
          <p:nvPr/>
        </p:nvSpPr>
        <p:spPr>
          <a:xfrm>
            <a:off x="5166360" y="4160520"/>
            <a:ext cx="1005840" cy="256032"/>
          </a:xfrm>
          <a:prstGeom prst="rect">
            <a:avLst/>
          </a:prstGeom>
          <a:solidFill>
            <a:srgbClr val="E8E0D0"/>
          </a:solidFill>
          <a:ln/>
        </p:spPr>
      </p:sp>
      <p:sp>
        <p:nvSpPr>
          <p:cNvPr id="44" name="Text 41"/>
          <p:cNvSpPr/>
          <p:nvPr/>
        </p:nvSpPr>
        <p:spPr>
          <a:xfrm>
            <a:off x="5166360" y="4160520"/>
            <a:ext cx="1005840" cy="256032"/>
          </a:xfrm>
          <a:prstGeom prst="rect">
            <a:avLst/>
          </a:prstGeom>
          <a:noFill/>
          <a:ln/>
        </p:spPr>
        <p:txBody>
          <a:bodyPr wrap="square" lIns="0" tIns="0" rIns="0" bIns="0" rtlCol="0" anchor="ctr"/>
          <a:lstStyle/>
          <a:p>
            <a:pPr algn="ctr" indent="0" marL="0">
              <a:buNone/>
            </a:pPr>
            <a:r>
              <a:rPr lang="en-US" sz="800" b="1" dirty="0">
                <a:solidFill>
                  <a:srgbClr val="3B2520"/>
                </a:solidFill>
                <a:latin typeface="Consolas" pitchFamily="34" charset="0"/>
                <a:ea typeface="Consolas" pitchFamily="34" charset="-122"/>
                <a:cs typeface="Consolas" pitchFamily="34" charset="-120"/>
              </a:rPr>
              <a:t>ontvanger</a:t>
            </a:r>
            <a:endParaRPr lang="en-US" sz="800" dirty="0"/>
          </a:p>
        </p:txBody>
      </p:sp>
      <p:sp>
        <p:nvSpPr>
          <p:cNvPr id="45" name="Shape 42"/>
          <p:cNvSpPr/>
          <p:nvPr/>
        </p:nvSpPr>
        <p:spPr>
          <a:xfrm>
            <a:off x="5166360" y="4416552"/>
            <a:ext cx="1005840" cy="256032"/>
          </a:xfrm>
          <a:prstGeom prst="rect">
            <a:avLst/>
          </a:prstGeom>
          <a:solidFill>
            <a:srgbClr val="FFFFFF"/>
          </a:solidFill>
          <a:ln/>
        </p:spPr>
      </p:sp>
      <p:sp>
        <p:nvSpPr>
          <p:cNvPr id="46" name="Text 43"/>
          <p:cNvSpPr/>
          <p:nvPr/>
        </p:nvSpPr>
        <p:spPr>
          <a:xfrm>
            <a:off x="5166360" y="4416552"/>
            <a:ext cx="1005840" cy="256032"/>
          </a:xfrm>
          <a:prstGeom prst="rect">
            <a:avLst/>
          </a:prstGeom>
          <a:noFill/>
          <a:ln/>
        </p:spPr>
        <p:txBody>
          <a:bodyPr wrap="square" lIns="0" tIns="0" rIns="0" bIns="0" rtlCol="0" anchor="ctr"/>
          <a:lstStyle/>
          <a:p>
            <a:pPr algn="ctr" indent="0" marL="0">
              <a:buNone/>
            </a:pPr>
            <a:r>
              <a:rPr lang="en-US" sz="800" dirty="0">
                <a:solidFill>
                  <a:srgbClr val="3B2520"/>
                </a:solidFill>
                <a:latin typeface="Consolas" pitchFamily="34" charset="0"/>
                <a:ea typeface="Consolas" pitchFamily="34" charset="-122"/>
                <a:cs typeface="Consolas" pitchFamily="34" charset="-120"/>
              </a:rPr>
              <a:t>ur-nigar</a:t>
            </a:r>
            <a:endParaRPr lang="en-US" sz="800" dirty="0"/>
          </a:p>
        </p:txBody>
      </p:sp>
      <p:sp>
        <p:nvSpPr>
          <p:cNvPr id="47" name="Shape 44"/>
          <p:cNvSpPr/>
          <p:nvPr/>
        </p:nvSpPr>
        <p:spPr>
          <a:xfrm>
            <a:off x="6172200" y="4160520"/>
            <a:ext cx="502920" cy="256032"/>
          </a:xfrm>
          <a:prstGeom prst="rect">
            <a:avLst/>
          </a:prstGeom>
          <a:solidFill>
            <a:srgbClr val="E8E0D0"/>
          </a:solidFill>
          <a:ln/>
        </p:spPr>
      </p:sp>
      <p:sp>
        <p:nvSpPr>
          <p:cNvPr id="48" name="Text 45"/>
          <p:cNvSpPr/>
          <p:nvPr/>
        </p:nvSpPr>
        <p:spPr>
          <a:xfrm>
            <a:off x="6172200" y="4160520"/>
            <a:ext cx="502920" cy="256032"/>
          </a:xfrm>
          <a:prstGeom prst="rect">
            <a:avLst/>
          </a:prstGeom>
          <a:noFill/>
          <a:ln/>
        </p:spPr>
        <p:txBody>
          <a:bodyPr wrap="square" lIns="0" tIns="0" rIns="0" bIns="0" rtlCol="0" anchor="ctr"/>
          <a:lstStyle/>
          <a:p>
            <a:pPr algn="ctr" indent="0" marL="0">
              <a:buNone/>
            </a:pPr>
            <a:r>
              <a:rPr lang="en-US" sz="800" b="1" dirty="0">
                <a:solidFill>
                  <a:srgbClr val="3B2520"/>
                </a:solidFill>
                <a:latin typeface="Consolas" pitchFamily="34" charset="0"/>
                <a:ea typeface="Consolas" pitchFamily="34" charset="-122"/>
                <a:cs typeface="Consolas" pitchFamily="34" charset="-120"/>
              </a:rPr>
              <a:t>mnd</a:t>
            </a:r>
            <a:endParaRPr lang="en-US" sz="800" dirty="0"/>
          </a:p>
        </p:txBody>
      </p:sp>
      <p:sp>
        <p:nvSpPr>
          <p:cNvPr id="49" name="Shape 46"/>
          <p:cNvSpPr/>
          <p:nvPr/>
        </p:nvSpPr>
        <p:spPr>
          <a:xfrm>
            <a:off x="6172200" y="4416552"/>
            <a:ext cx="502920" cy="256032"/>
          </a:xfrm>
          <a:prstGeom prst="rect">
            <a:avLst/>
          </a:prstGeom>
          <a:solidFill>
            <a:srgbClr val="FFFFFF"/>
          </a:solidFill>
          <a:ln/>
        </p:spPr>
      </p:sp>
      <p:sp>
        <p:nvSpPr>
          <p:cNvPr id="50" name="Text 47"/>
          <p:cNvSpPr/>
          <p:nvPr/>
        </p:nvSpPr>
        <p:spPr>
          <a:xfrm>
            <a:off x="6172200" y="4416552"/>
            <a:ext cx="502920" cy="256032"/>
          </a:xfrm>
          <a:prstGeom prst="rect">
            <a:avLst/>
          </a:prstGeom>
          <a:noFill/>
          <a:ln/>
        </p:spPr>
        <p:txBody>
          <a:bodyPr wrap="square" lIns="0" tIns="0" rIns="0" bIns="0" rtlCol="0" anchor="ctr"/>
          <a:lstStyle/>
          <a:p>
            <a:pPr algn="ctr" indent="0" marL="0">
              <a:buNone/>
            </a:pPr>
            <a:r>
              <a:rPr lang="en-US" sz="800" dirty="0">
                <a:solidFill>
                  <a:srgbClr val="3B2520"/>
                </a:solidFill>
                <a:latin typeface="Consolas" pitchFamily="34" charset="0"/>
                <a:ea typeface="Consolas" pitchFamily="34" charset="-122"/>
                <a:cs typeface="Consolas" pitchFamily="34" charset="-120"/>
              </a:rPr>
              <a:t>8</a:t>
            </a:r>
            <a:endParaRPr lang="en-US" sz="800" dirty="0"/>
          </a:p>
        </p:txBody>
      </p:sp>
      <p:sp>
        <p:nvSpPr>
          <p:cNvPr id="51" name="Shape 48"/>
          <p:cNvSpPr/>
          <p:nvPr/>
        </p:nvSpPr>
        <p:spPr>
          <a:xfrm>
            <a:off x="6675120" y="4160520"/>
            <a:ext cx="411480" cy="256032"/>
          </a:xfrm>
          <a:prstGeom prst="rect">
            <a:avLst/>
          </a:prstGeom>
          <a:solidFill>
            <a:srgbClr val="E8E0D0"/>
          </a:solidFill>
          <a:ln/>
        </p:spPr>
      </p:sp>
      <p:sp>
        <p:nvSpPr>
          <p:cNvPr id="52" name="Text 49"/>
          <p:cNvSpPr/>
          <p:nvPr/>
        </p:nvSpPr>
        <p:spPr>
          <a:xfrm>
            <a:off x="6675120" y="4160520"/>
            <a:ext cx="411480" cy="256032"/>
          </a:xfrm>
          <a:prstGeom prst="rect">
            <a:avLst/>
          </a:prstGeom>
          <a:noFill/>
          <a:ln/>
        </p:spPr>
        <p:txBody>
          <a:bodyPr wrap="square" lIns="0" tIns="0" rIns="0" bIns="0" rtlCol="0" anchor="ctr"/>
          <a:lstStyle/>
          <a:p>
            <a:pPr algn="ctr" indent="0" marL="0">
              <a:buNone/>
            </a:pPr>
            <a:r>
              <a:rPr lang="en-US" sz="800" b="1" dirty="0">
                <a:solidFill>
                  <a:srgbClr val="3B2520"/>
                </a:solidFill>
                <a:latin typeface="Consolas" pitchFamily="34" charset="0"/>
                <a:ea typeface="Consolas" pitchFamily="34" charset="-122"/>
                <a:cs typeface="Consolas" pitchFamily="34" charset="-120"/>
              </a:rPr>
              <a:t>dag</a:t>
            </a:r>
            <a:endParaRPr lang="en-US" sz="800" dirty="0"/>
          </a:p>
        </p:txBody>
      </p:sp>
      <p:sp>
        <p:nvSpPr>
          <p:cNvPr id="53" name="Shape 50"/>
          <p:cNvSpPr/>
          <p:nvPr/>
        </p:nvSpPr>
        <p:spPr>
          <a:xfrm>
            <a:off x="6675120" y="4416552"/>
            <a:ext cx="411480" cy="256032"/>
          </a:xfrm>
          <a:prstGeom prst="rect">
            <a:avLst/>
          </a:prstGeom>
          <a:solidFill>
            <a:srgbClr val="FFFFFF"/>
          </a:solidFill>
          <a:ln/>
        </p:spPr>
      </p:sp>
      <p:sp>
        <p:nvSpPr>
          <p:cNvPr id="54" name="Text 51"/>
          <p:cNvSpPr/>
          <p:nvPr/>
        </p:nvSpPr>
        <p:spPr>
          <a:xfrm>
            <a:off x="6675120" y="4416552"/>
            <a:ext cx="411480" cy="256032"/>
          </a:xfrm>
          <a:prstGeom prst="rect">
            <a:avLst/>
          </a:prstGeom>
          <a:noFill/>
          <a:ln/>
        </p:spPr>
        <p:txBody>
          <a:bodyPr wrap="square" lIns="0" tIns="0" rIns="0" bIns="0" rtlCol="0" anchor="ctr"/>
          <a:lstStyle/>
          <a:p>
            <a:pPr algn="ctr" indent="0" marL="0">
              <a:buNone/>
            </a:pPr>
            <a:r>
              <a:rPr lang="en-US" sz="800" dirty="0">
                <a:solidFill>
                  <a:srgbClr val="3B2520"/>
                </a:solidFill>
                <a:latin typeface="Consolas" pitchFamily="34" charset="0"/>
                <a:ea typeface="Consolas" pitchFamily="34" charset="-122"/>
                <a:cs typeface="Consolas" pitchFamily="34" charset="-120"/>
              </a:rPr>
              <a:t>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A204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sp>
      <p:sp>
        <p:nvSpPr>
          <p:cNvPr id="3" name="Text 1"/>
          <p:cNvSpPr/>
          <p:nvPr/>
        </p:nvSpPr>
        <p:spPr>
          <a:xfrm>
            <a:off x="731520" y="274320"/>
            <a:ext cx="822960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WOORDCLASSIFICATIE IN ACTIE</a:t>
            </a:r>
            <a:endParaRPr lang="en-US" sz="3600" dirty="0"/>
          </a:p>
        </p:txBody>
      </p:sp>
      <p:sp>
        <p:nvSpPr>
          <p:cNvPr id="4" name="Text 2"/>
          <p:cNvSpPr/>
          <p:nvPr/>
        </p:nvSpPr>
        <p:spPr>
          <a:xfrm>
            <a:off x="731520" y="914400"/>
            <a:ext cx="7315200" cy="365760"/>
          </a:xfrm>
          <a:prstGeom prst="rect">
            <a:avLst/>
          </a:prstGeom>
          <a:noFill/>
          <a:ln/>
        </p:spPr>
        <p:txBody>
          <a:bodyPr wrap="square" lIns="0" tIns="0" rIns="0" bIns="0" rtlCol="0" anchor="ctr"/>
          <a:lstStyle/>
          <a:p>
            <a:pPr indent="0" marL="0">
              <a:buNone/>
            </a:pPr>
            <a:r>
              <a:rPr lang="en-US" sz="1400" i="1" dirty="0">
                <a:solidFill>
                  <a:srgbClr val="B0A8C0"/>
                </a:solidFill>
                <a:latin typeface="Calibri" pitchFamily="34" charset="0"/>
                <a:ea typeface="Calibri" pitchFamily="34" charset="-122"/>
                <a:cs typeface="Calibri" pitchFamily="34" charset="-120"/>
              </a:rPr>
              <a:t>Stel je voor dat je elke tablet leest als een zin, en elk woord een label geeft:</a:t>
            </a:r>
            <a:endParaRPr lang="en-US" sz="1400" dirty="0"/>
          </a:p>
        </p:txBody>
      </p:sp>
      <p:sp>
        <p:nvSpPr>
          <p:cNvPr id="5" name="Shape 3"/>
          <p:cNvSpPr/>
          <p:nvPr/>
        </p:nvSpPr>
        <p:spPr>
          <a:xfrm>
            <a:off x="731520" y="1463040"/>
            <a:ext cx="1170432" cy="594360"/>
          </a:xfrm>
          <a:prstGeom prst="rect">
            <a:avLst/>
          </a:prstGeom>
          <a:solidFill>
            <a:srgbClr val="1A1430"/>
          </a:solidFill>
          <a:ln/>
        </p:spPr>
      </p:sp>
      <p:sp>
        <p:nvSpPr>
          <p:cNvPr id="6" name="Text 4"/>
          <p:cNvSpPr/>
          <p:nvPr/>
        </p:nvSpPr>
        <p:spPr>
          <a:xfrm>
            <a:off x="731520" y="1463040"/>
            <a:ext cx="1170432" cy="384048"/>
          </a:xfrm>
          <a:prstGeom prst="rect">
            <a:avLst/>
          </a:prstGeom>
          <a:noFill/>
          <a:ln/>
        </p:spPr>
        <p:txBody>
          <a:bodyPr wrap="square" lIns="0" tIns="0" rIns="0" bIns="0" rtlCol="0" anchor="ctr"/>
          <a:lstStyle/>
          <a:p>
            <a:pPr algn="ctr" indent="0" marL="0">
              <a:buNone/>
            </a:pPr>
            <a:r>
              <a:rPr lang="en-US" sz="1600" b="1" dirty="0">
                <a:solidFill>
                  <a:srgbClr val="E8943A"/>
                </a:solidFill>
                <a:latin typeface="Consolas" pitchFamily="34" charset="0"/>
                <a:ea typeface="Consolas" pitchFamily="34" charset="-122"/>
                <a:cs typeface="Consolas" pitchFamily="34" charset="-120"/>
              </a:rPr>
              <a:t>1(disz)</a:t>
            </a:r>
            <a:endParaRPr lang="en-US" sz="1600" dirty="0"/>
          </a:p>
        </p:txBody>
      </p:sp>
      <p:sp>
        <p:nvSpPr>
          <p:cNvPr id="7" name="Text 5"/>
          <p:cNvSpPr/>
          <p:nvPr/>
        </p:nvSpPr>
        <p:spPr>
          <a:xfrm>
            <a:off x="731520" y="1828800"/>
            <a:ext cx="1170432" cy="228600"/>
          </a:xfrm>
          <a:prstGeom prst="rect">
            <a:avLst/>
          </a:prstGeom>
          <a:noFill/>
          <a:ln/>
        </p:spPr>
        <p:txBody>
          <a:bodyPr wrap="square" lIns="0" tIns="0" rIns="0" bIns="0" rtlCol="0" anchor="ctr"/>
          <a:lstStyle/>
          <a:p>
            <a:pPr algn="ctr" indent="0" marL="0">
              <a:buNone/>
            </a:pPr>
            <a:r>
              <a:rPr lang="en-US" sz="900" dirty="0">
                <a:solidFill>
                  <a:srgbClr val="888888"/>
                </a:solidFill>
                <a:latin typeface="Calibri" pitchFamily="34" charset="0"/>
                <a:ea typeface="Calibri" pitchFamily="34" charset="-122"/>
                <a:cs typeface="Calibri" pitchFamily="34" charset="-120"/>
              </a:rPr>
              <a:t>getal</a:t>
            </a:r>
            <a:endParaRPr lang="en-US" sz="900" dirty="0"/>
          </a:p>
        </p:txBody>
      </p:sp>
      <p:sp>
        <p:nvSpPr>
          <p:cNvPr id="8" name="Shape 6"/>
          <p:cNvSpPr/>
          <p:nvPr/>
        </p:nvSpPr>
        <p:spPr>
          <a:xfrm>
            <a:off x="2011680" y="1463040"/>
            <a:ext cx="822960" cy="594360"/>
          </a:xfrm>
          <a:prstGeom prst="rect">
            <a:avLst/>
          </a:prstGeom>
          <a:solidFill>
            <a:srgbClr val="1A1430"/>
          </a:solidFill>
          <a:ln/>
        </p:spPr>
      </p:sp>
      <p:sp>
        <p:nvSpPr>
          <p:cNvPr id="9" name="Text 7"/>
          <p:cNvSpPr/>
          <p:nvPr/>
        </p:nvSpPr>
        <p:spPr>
          <a:xfrm>
            <a:off x="2011680" y="1463040"/>
            <a:ext cx="822960" cy="384048"/>
          </a:xfrm>
          <a:prstGeom prst="rect">
            <a:avLst/>
          </a:prstGeom>
          <a:noFill/>
          <a:ln/>
        </p:spPr>
        <p:txBody>
          <a:bodyPr wrap="square" lIns="0" tIns="0" rIns="0" bIns="0" rtlCol="0" anchor="ctr"/>
          <a:lstStyle/>
          <a:p>
            <a:pPr algn="ctr" indent="0" marL="0">
              <a:buNone/>
            </a:pPr>
            <a:r>
              <a:rPr lang="en-US" sz="1600" b="1" dirty="0">
                <a:solidFill>
                  <a:srgbClr val="3ABF5E"/>
                </a:solidFill>
                <a:latin typeface="Consolas" pitchFamily="34" charset="0"/>
                <a:ea typeface="Consolas" pitchFamily="34" charset="-122"/>
                <a:cs typeface="Consolas" pitchFamily="34" charset="-120"/>
              </a:rPr>
              <a:t>udu</a:t>
            </a:r>
            <a:endParaRPr lang="en-US" sz="1600" dirty="0"/>
          </a:p>
        </p:txBody>
      </p:sp>
      <p:sp>
        <p:nvSpPr>
          <p:cNvPr id="10" name="Text 8"/>
          <p:cNvSpPr/>
          <p:nvPr/>
        </p:nvSpPr>
        <p:spPr>
          <a:xfrm>
            <a:off x="2011680" y="1828800"/>
            <a:ext cx="822960" cy="228600"/>
          </a:xfrm>
          <a:prstGeom prst="rect">
            <a:avLst/>
          </a:prstGeom>
          <a:noFill/>
          <a:ln/>
        </p:spPr>
        <p:txBody>
          <a:bodyPr wrap="square" lIns="0" tIns="0" rIns="0" bIns="0" rtlCol="0" anchor="ctr"/>
          <a:lstStyle/>
          <a:p>
            <a:pPr algn="ctr" indent="0" marL="0">
              <a:buNone/>
            </a:pPr>
            <a:r>
              <a:rPr lang="en-US" sz="900" dirty="0">
                <a:solidFill>
                  <a:srgbClr val="888888"/>
                </a:solidFill>
                <a:latin typeface="Calibri" pitchFamily="34" charset="0"/>
                <a:ea typeface="Calibri" pitchFamily="34" charset="-122"/>
                <a:cs typeface="Calibri" pitchFamily="34" charset="-120"/>
              </a:rPr>
              <a:t>dier</a:t>
            </a:r>
            <a:endParaRPr lang="en-US" sz="900" dirty="0"/>
          </a:p>
        </p:txBody>
      </p:sp>
      <p:sp>
        <p:nvSpPr>
          <p:cNvPr id="11" name="Shape 9"/>
          <p:cNvSpPr/>
          <p:nvPr/>
        </p:nvSpPr>
        <p:spPr>
          <a:xfrm>
            <a:off x="2944368" y="1463040"/>
            <a:ext cx="822960" cy="594360"/>
          </a:xfrm>
          <a:prstGeom prst="rect">
            <a:avLst/>
          </a:prstGeom>
          <a:solidFill>
            <a:srgbClr val="1A1430"/>
          </a:solidFill>
          <a:ln/>
        </p:spPr>
      </p:sp>
      <p:sp>
        <p:nvSpPr>
          <p:cNvPr id="12" name="Text 10"/>
          <p:cNvSpPr/>
          <p:nvPr/>
        </p:nvSpPr>
        <p:spPr>
          <a:xfrm>
            <a:off x="2944368" y="1463040"/>
            <a:ext cx="822960" cy="384048"/>
          </a:xfrm>
          <a:prstGeom prst="rect">
            <a:avLst/>
          </a:prstGeom>
          <a:noFill/>
          <a:ln/>
        </p:spPr>
        <p:txBody>
          <a:bodyPr wrap="square" lIns="0" tIns="0" rIns="0" bIns="0" rtlCol="0" anchor="ctr"/>
          <a:lstStyle/>
          <a:p>
            <a:pPr algn="ctr" indent="0" marL="0">
              <a:buNone/>
            </a:pPr>
            <a:r>
              <a:rPr lang="en-US" sz="1600" b="1" dirty="0">
                <a:solidFill>
                  <a:srgbClr val="5ADF7A"/>
                </a:solidFill>
                <a:latin typeface="Consolas" pitchFamily="34" charset="0"/>
                <a:ea typeface="Consolas" pitchFamily="34" charset="-122"/>
                <a:cs typeface="Consolas" pitchFamily="34" charset="-120"/>
              </a:rPr>
              <a:t>niga</a:t>
            </a:r>
            <a:endParaRPr lang="en-US" sz="1600" dirty="0"/>
          </a:p>
        </p:txBody>
      </p:sp>
      <p:sp>
        <p:nvSpPr>
          <p:cNvPr id="13" name="Text 11"/>
          <p:cNvSpPr/>
          <p:nvPr/>
        </p:nvSpPr>
        <p:spPr>
          <a:xfrm>
            <a:off x="2944368" y="1828800"/>
            <a:ext cx="822960" cy="228600"/>
          </a:xfrm>
          <a:prstGeom prst="rect">
            <a:avLst/>
          </a:prstGeom>
          <a:noFill/>
          <a:ln/>
        </p:spPr>
        <p:txBody>
          <a:bodyPr wrap="square" lIns="0" tIns="0" rIns="0" bIns="0" rtlCol="0" anchor="ctr"/>
          <a:lstStyle/>
          <a:p>
            <a:pPr algn="ctr" indent="0" marL="0">
              <a:buNone/>
            </a:pPr>
            <a:r>
              <a:rPr lang="en-US" sz="900" dirty="0">
                <a:solidFill>
                  <a:srgbClr val="888888"/>
                </a:solidFill>
                <a:latin typeface="Calibri" pitchFamily="34" charset="0"/>
                <a:ea typeface="Calibri" pitchFamily="34" charset="-122"/>
                <a:cs typeface="Calibri" pitchFamily="34" charset="-120"/>
              </a:rPr>
              <a:t>kwalif.</a:t>
            </a:r>
            <a:endParaRPr lang="en-US" sz="900" dirty="0"/>
          </a:p>
        </p:txBody>
      </p:sp>
      <p:sp>
        <p:nvSpPr>
          <p:cNvPr id="14" name="Shape 12"/>
          <p:cNvSpPr/>
          <p:nvPr/>
        </p:nvSpPr>
        <p:spPr>
          <a:xfrm>
            <a:off x="3877056" y="1463040"/>
            <a:ext cx="822960" cy="594360"/>
          </a:xfrm>
          <a:prstGeom prst="rect">
            <a:avLst/>
          </a:prstGeom>
          <a:solidFill>
            <a:srgbClr val="1A1430"/>
          </a:solidFill>
          <a:ln/>
        </p:spPr>
      </p:sp>
      <p:sp>
        <p:nvSpPr>
          <p:cNvPr id="15" name="Text 13"/>
          <p:cNvSpPr/>
          <p:nvPr/>
        </p:nvSpPr>
        <p:spPr>
          <a:xfrm>
            <a:off x="3877056" y="1463040"/>
            <a:ext cx="822960" cy="384048"/>
          </a:xfrm>
          <a:prstGeom prst="rect">
            <a:avLst/>
          </a:prstGeom>
          <a:noFill/>
          <a:ln/>
        </p:spPr>
        <p:txBody>
          <a:bodyPr wrap="square" lIns="0" tIns="0" rIns="0" bIns="0" rtlCol="0" anchor="ctr"/>
          <a:lstStyle/>
          <a:p>
            <a:pPr algn="ctr" indent="0" marL="0">
              <a:buNone/>
            </a:pPr>
            <a:r>
              <a:rPr lang="en-US" sz="1600" b="1" dirty="0">
                <a:solidFill>
                  <a:srgbClr val="3AC4BF"/>
                </a:solidFill>
                <a:latin typeface="Consolas" pitchFamily="34" charset="0"/>
                <a:ea typeface="Consolas" pitchFamily="34" charset="-122"/>
                <a:cs typeface="Consolas" pitchFamily="34" charset="-120"/>
              </a:rPr>
              <a:t>ki</a:t>
            </a:r>
            <a:endParaRPr lang="en-US" sz="1600" dirty="0"/>
          </a:p>
        </p:txBody>
      </p:sp>
      <p:sp>
        <p:nvSpPr>
          <p:cNvPr id="16" name="Text 14"/>
          <p:cNvSpPr/>
          <p:nvPr/>
        </p:nvSpPr>
        <p:spPr>
          <a:xfrm>
            <a:off x="3877056" y="1828800"/>
            <a:ext cx="822960" cy="228600"/>
          </a:xfrm>
          <a:prstGeom prst="rect">
            <a:avLst/>
          </a:prstGeom>
          <a:noFill/>
          <a:ln/>
        </p:spPr>
        <p:txBody>
          <a:bodyPr wrap="square" lIns="0" tIns="0" rIns="0" bIns="0" rtlCol="0" anchor="ctr"/>
          <a:lstStyle/>
          <a:p>
            <a:pPr algn="ctr" indent="0" marL="0">
              <a:buNone/>
            </a:pPr>
            <a:r>
              <a:rPr lang="en-US" sz="900" dirty="0">
                <a:solidFill>
                  <a:srgbClr val="888888"/>
                </a:solidFill>
                <a:latin typeface="Calibri" pitchFamily="34" charset="0"/>
                <a:ea typeface="Calibri" pitchFamily="34" charset="-122"/>
                <a:cs typeface="Calibri" pitchFamily="34" charset="-120"/>
              </a:rPr>
              <a:t>rol</a:t>
            </a:r>
            <a:endParaRPr lang="en-US" sz="900" dirty="0"/>
          </a:p>
        </p:txBody>
      </p:sp>
      <p:sp>
        <p:nvSpPr>
          <p:cNvPr id="17" name="Shape 15"/>
          <p:cNvSpPr/>
          <p:nvPr/>
        </p:nvSpPr>
        <p:spPr>
          <a:xfrm>
            <a:off x="4809744" y="1463040"/>
            <a:ext cx="1170432" cy="594360"/>
          </a:xfrm>
          <a:prstGeom prst="rect">
            <a:avLst/>
          </a:prstGeom>
          <a:solidFill>
            <a:srgbClr val="1A1430"/>
          </a:solidFill>
          <a:ln/>
        </p:spPr>
      </p:sp>
      <p:sp>
        <p:nvSpPr>
          <p:cNvPr id="18" name="Text 16"/>
          <p:cNvSpPr/>
          <p:nvPr/>
        </p:nvSpPr>
        <p:spPr>
          <a:xfrm>
            <a:off x="4809744" y="1463040"/>
            <a:ext cx="1170432" cy="384048"/>
          </a:xfrm>
          <a:prstGeom prst="rect">
            <a:avLst/>
          </a:prstGeom>
          <a:noFill/>
          <a:ln/>
        </p:spPr>
        <p:txBody>
          <a:bodyPr wrap="square" lIns="0" tIns="0" rIns="0" bIns="0" rtlCol="0" anchor="ctr"/>
          <a:lstStyle/>
          <a:p>
            <a:pPr algn="ctr" indent="0" marL="0">
              <a:buNone/>
            </a:pPr>
            <a:r>
              <a:rPr lang="en-US" sz="1600" b="1" dirty="0">
                <a:solidFill>
                  <a:srgbClr val="C87AE8"/>
                </a:solidFill>
                <a:latin typeface="Consolas" pitchFamily="34" charset="0"/>
                <a:ea typeface="Consolas" pitchFamily="34" charset="-122"/>
                <a:cs typeface="Consolas" pitchFamily="34" charset="-120"/>
              </a:rPr>
              <a:t>a-hu-ni</a:t>
            </a:r>
            <a:endParaRPr lang="en-US" sz="1600" dirty="0"/>
          </a:p>
        </p:txBody>
      </p:sp>
      <p:sp>
        <p:nvSpPr>
          <p:cNvPr id="19" name="Text 17"/>
          <p:cNvSpPr/>
          <p:nvPr/>
        </p:nvSpPr>
        <p:spPr>
          <a:xfrm>
            <a:off x="4809744" y="1828800"/>
            <a:ext cx="1170432" cy="228600"/>
          </a:xfrm>
          <a:prstGeom prst="rect">
            <a:avLst/>
          </a:prstGeom>
          <a:noFill/>
          <a:ln/>
        </p:spPr>
        <p:txBody>
          <a:bodyPr wrap="square" lIns="0" tIns="0" rIns="0" bIns="0" rtlCol="0" anchor="ctr"/>
          <a:lstStyle/>
          <a:p>
            <a:pPr algn="ctr" indent="0" marL="0">
              <a:buNone/>
            </a:pPr>
            <a:r>
              <a:rPr lang="en-US" sz="900" dirty="0">
                <a:solidFill>
                  <a:srgbClr val="888888"/>
                </a:solidFill>
                <a:latin typeface="Calibri" pitchFamily="34" charset="0"/>
                <a:ea typeface="Calibri" pitchFamily="34" charset="-122"/>
                <a:cs typeface="Calibri" pitchFamily="34" charset="-120"/>
              </a:rPr>
              <a:t>persoon</a:t>
            </a:r>
            <a:endParaRPr lang="en-US" sz="900" dirty="0"/>
          </a:p>
        </p:txBody>
      </p:sp>
      <p:sp>
        <p:nvSpPr>
          <p:cNvPr id="20" name="Shape 18"/>
          <p:cNvSpPr/>
          <p:nvPr/>
        </p:nvSpPr>
        <p:spPr>
          <a:xfrm>
            <a:off x="6089904" y="1463040"/>
            <a:ext cx="822960" cy="594360"/>
          </a:xfrm>
          <a:prstGeom prst="rect">
            <a:avLst/>
          </a:prstGeom>
          <a:solidFill>
            <a:srgbClr val="1A1430"/>
          </a:solidFill>
          <a:ln/>
        </p:spPr>
      </p:sp>
      <p:sp>
        <p:nvSpPr>
          <p:cNvPr id="21" name="Text 19"/>
          <p:cNvSpPr/>
          <p:nvPr/>
        </p:nvSpPr>
        <p:spPr>
          <a:xfrm>
            <a:off x="6089904" y="1463040"/>
            <a:ext cx="822960" cy="384048"/>
          </a:xfrm>
          <a:prstGeom prst="rect">
            <a:avLst/>
          </a:prstGeom>
          <a:noFill/>
          <a:ln/>
        </p:spPr>
        <p:txBody>
          <a:bodyPr wrap="square" lIns="0" tIns="0" rIns="0" bIns="0" rtlCol="0" anchor="ctr"/>
          <a:lstStyle/>
          <a:p>
            <a:pPr algn="ctr" indent="0" marL="0">
              <a:buNone/>
            </a:pPr>
            <a:r>
              <a:rPr lang="en-US" sz="1600" b="1" dirty="0">
                <a:solidFill>
                  <a:srgbClr val="E87AA0"/>
                </a:solidFill>
                <a:latin typeface="Consolas" pitchFamily="34" charset="0"/>
                <a:ea typeface="Consolas" pitchFamily="34" charset="-122"/>
                <a:cs typeface="Consolas" pitchFamily="34" charset="-120"/>
              </a:rPr>
              <a:t>-ta</a:t>
            </a:r>
            <a:endParaRPr lang="en-US" sz="1600" dirty="0"/>
          </a:p>
        </p:txBody>
      </p:sp>
      <p:sp>
        <p:nvSpPr>
          <p:cNvPr id="22" name="Text 20"/>
          <p:cNvSpPr/>
          <p:nvPr/>
        </p:nvSpPr>
        <p:spPr>
          <a:xfrm>
            <a:off x="6089904" y="1828800"/>
            <a:ext cx="822960" cy="228600"/>
          </a:xfrm>
          <a:prstGeom prst="rect">
            <a:avLst/>
          </a:prstGeom>
          <a:noFill/>
          <a:ln/>
        </p:spPr>
        <p:txBody>
          <a:bodyPr wrap="square" lIns="0" tIns="0" rIns="0" bIns="0" rtlCol="0" anchor="ctr"/>
          <a:lstStyle/>
          <a:p>
            <a:pPr algn="ctr" indent="0" marL="0">
              <a:buNone/>
            </a:pPr>
            <a:r>
              <a:rPr lang="en-US" sz="900" dirty="0">
                <a:solidFill>
                  <a:srgbClr val="888888"/>
                </a:solidFill>
                <a:latin typeface="Calibri" pitchFamily="34" charset="0"/>
                <a:ea typeface="Calibri" pitchFamily="34" charset="-122"/>
                <a:cs typeface="Calibri" pitchFamily="34" charset="-120"/>
              </a:rPr>
              <a:t>van</a:t>
            </a:r>
            <a:endParaRPr lang="en-US" sz="900" dirty="0"/>
          </a:p>
        </p:txBody>
      </p:sp>
      <p:sp>
        <p:nvSpPr>
          <p:cNvPr id="23" name="Shape 21"/>
          <p:cNvSpPr/>
          <p:nvPr/>
        </p:nvSpPr>
        <p:spPr>
          <a:xfrm>
            <a:off x="7022592" y="1463040"/>
            <a:ext cx="1554480" cy="594360"/>
          </a:xfrm>
          <a:prstGeom prst="rect">
            <a:avLst/>
          </a:prstGeom>
          <a:solidFill>
            <a:srgbClr val="1A1430"/>
          </a:solidFill>
          <a:ln/>
        </p:spPr>
      </p:sp>
      <p:sp>
        <p:nvSpPr>
          <p:cNvPr id="24" name="Text 22"/>
          <p:cNvSpPr/>
          <p:nvPr/>
        </p:nvSpPr>
        <p:spPr>
          <a:xfrm>
            <a:off x="7022592" y="1463040"/>
            <a:ext cx="1554480" cy="384048"/>
          </a:xfrm>
          <a:prstGeom prst="rect">
            <a:avLst/>
          </a:prstGeom>
          <a:noFill/>
          <a:ln/>
        </p:spPr>
        <p:txBody>
          <a:bodyPr wrap="square" lIns="0" tIns="0" rIns="0" bIns="0" rtlCol="0" anchor="ctr"/>
          <a:lstStyle/>
          <a:p>
            <a:pPr algn="ctr" indent="0" marL="0">
              <a:buNone/>
            </a:pPr>
            <a:r>
              <a:rPr lang="en-US" sz="1600" b="1" dirty="0">
                <a:solidFill>
                  <a:srgbClr val="E85A5A"/>
                </a:solidFill>
                <a:latin typeface="Consolas" pitchFamily="34" charset="0"/>
                <a:ea typeface="Consolas" pitchFamily="34" charset="-122"/>
                <a:cs typeface="Consolas" pitchFamily="34" charset="-120"/>
              </a:rPr>
              <a:t>mu-kux(DU)</a:t>
            </a:r>
            <a:endParaRPr lang="en-US" sz="1600" dirty="0"/>
          </a:p>
        </p:txBody>
      </p:sp>
      <p:sp>
        <p:nvSpPr>
          <p:cNvPr id="25" name="Text 23"/>
          <p:cNvSpPr/>
          <p:nvPr/>
        </p:nvSpPr>
        <p:spPr>
          <a:xfrm>
            <a:off x="7022592" y="1828800"/>
            <a:ext cx="1554480" cy="228600"/>
          </a:xfrm>
          <a:prstGeom prst="rect">
            <a:avLst/>
          </a:prstGeom>
          <a:noFill/>
          <a:ln/>
        </p:spPr>
        <p:txBody>
          <a:bodyPr wrap="square" lIns="0" tIns="0" rIns="0" bIns="0" rtlCol="0" anchor="ctr"/>
          <a:lstStyle/>
          <a:p>
            <a:pPr algn="ctr" indent="0" marL="0">
              <a:buNone/>
            </a:pPr>
            <a:r>
              <a:rPr lang="en-US" sz="900" dirty="0">
                <a:solidFill>
                  <a:srgbClr val="888888"/>
                </a:solidFill>
                <a:latin typeface="Calibri" pitchFamily="34" charset="0"/>
                <a:ea typeface="Calibri" pitchFamily="34" charset="-122"/>
                <a:cs typeface="Calibri" pitchFamily="34" charset="-120"/>
              </a:rPr>
              <a:t>transactie</a:t>
            </a:r>
            <a:endParaRPr lang="en-US" sz="900" dirty="0"/>
          </a:p>
        </p:txBody>
      </p:sp>
      <p:sp>
        <p:nvSpPr>
          <p:cNvPr id="26" name="Text 24"/>
          <p:cNvSpPr/>
          <p:nvPr/>
        </p:nvSpPr>
        <p:spPr>
          <a:xfrm>
            <a:off x="731520" y="2331720"/>
            <a:ext cx="7315200" cy="457200"/>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  "1 vetgemest schaap, van Ahuni, levering"</a:t>
            </a:r>
            <a:endParaRPr lang="en-US" sz="1600" dirty="0"/>
          </a:p>
        </p:txBody>
      </p:sp>
      <p:sp>
        <p:nvSpPr>
          <p:cNvPr id="27" name="Text 25"/>
          <p:cNvSpPr/>
          <p:nvPr/>
        </p:nvSpPr>
        <p:spPr>
          <a:xfrm>
            <a:off x="731520" y="3017520"/>
            <a:ext cx="36576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Kleurlegenda (= visualisator)</a:t>
            </a:r>
            <a:endParaRPr lang="en-US" sz="1400" dirty="0"/>
          </a:p>
        </p:txBody>
      </p:sp>
      <p:sp>
        <p:nvSpPr>
          <p:cNvPr id="28" name="Shape 26"/>
          <p:cNvSpPr/>
          <p:nvPr/>
        </p:nvSpPr>
        <p:spPr>
          <a:xfrm>
            <a:off x="731520" y="3520440"/>
            <a:ext cx="228600" cy="228600"/>
          </a:xfrm>
          <a:prstGeom prst="rect">
            <a:avLst/>
          </a:prstGeom>
          <a:solidFill>
            <a:srgbClr val="E8943A"/>
          </a:solidFill>
          <a:ln/>
        </p:spPr>
      </p:sp>
      <p:sp>
        <p:nvSpPr>
          <p:cNvPr id="29" name="Text 27"/>
          <p:cNvSpPr/>
          <p:nvPr/>
        </p:nvSpPr>
        <p:spPr>
          <a:xfrm>
            <a:off x="1097280" y="3474720"/>
            <a:ext cx="1828800" cy="320040"/>
          </a:xfrm>
          <a:prstGeom prst="rect">
            <a:avLst/>
          </a:prstGeom>
          <a:noFill/>
          <a:ln/>
        </p:spPr>
        <p:txBody>
          <a:bodyPr wrap="square" lIns="0" tIns="0" rIns="0" bIns="0" rtlCol="0" anchor="ctr"/>
          <a:lstStyle/>
          <a:p>
            <a:pPr indent="0" marL="0">
              <a:buNone/>
            </a:pPr>
            <a:r>
              <a:rPr lang="en-US" sz="1200" dirty="0">
                <a:solidFill>
                  <a:srgbClr val="E8943A"/>
                </a:solidFill>
                <a:latin typeface="Calibri" pitchFamily="34" charset="0"/>
                <a:ea typeface="Calibri" pitchFamily="34" charset="-122"/>
                <a:cs typeface="Calibri" pitchFamily="34" charset="-120"/>
              </a:rPr>
              <a:t>Getal</a:t>
            </a:r>
            <a:endParaRPr lang="en-US" sz="1200" dirty="0"/>
          </a:p>
        </p:txBody>
      </p:sp>
      <p:sp>
        <p:nvSpPr>
          <p:cNvPr id="30" name="Shape 28"/>
          <p:cNvSpPr/>
          <p:nvPr/>
        </p:nvSpPr>
        <p:spPr>
          <a:xfrm>
            <a:off x="3474720" y="3520440"/>
            <a:ext cx="228600" cy="228600"/>
          </a:xfrm>
          <a:prstGeom prst="rect">
            <a:avLst/>
          </a:prstGeom>
          <a:solidFill>
            <a:srgbClr val="3ABF5E"/>
          </a:solidFill>
          <a:ln/>
        </p:spPr>
      </p:sp>
      <p:sp>
        <p:nvSpPr>
          <p:cNvPr id="31" name="Text 29"/>
          <p:cNvSpPr/>
          <p:nvPr/>
        </p:nvSpPr>
        <p:spPr>
          <a:xfrm>
            <a:off x="3840480" y="3474720"/>
            <a:ext cx="1828800" cy="320040"/>
          </a:xfrm>
          <a:prstGeom prst="rect">
            <a:avLst/>
          </a:prstGeom>
          <a:noFill/>
          <a:ln/>
        </p:spPr>
        <p:txBody>
          <a:bodyPr wrap="square" lIns="0" tIns="0" rIns="0" bIns="0" rtlCol="0" anchor="ctr"/>
          <a:lstStyle/>
          <a:p>
            <a:pPr indent="0" marL="0">
              <a:buNone/>
            </a:pPr>
            <a:r>
              <a:rPr lang="en-US" sz="1200" dirty="0">
                <a:solidFill>
                  <a:srgbClr val="3ABF5E"/>
                </a:solidFill>
                <a:latin typeface="Calibri" pitchFamily="34" charset="0"/>
                <a:ea typeface="Calibri" pitchFamily="34" charset="-122"/>
                <a:cs typeface="Calibri" pitchFamily="34" charset="-120"/>
              </a:rPr>
              <a:t>Dier</a:t>
            </a:r>
            <a:endParaRPr lang="en-US" sz="1200" dirty="0"/>
          </a:p>
        </p:txBody>
      </p:sp>
      <p:sp>
        <p:nvSpPr>
          <p:cNvPr id="32" name="Shape 30"/>
          <p:cNvSpPr/>
          <p:nvPr/>
        </p:nvSpPr>
        <p:spPr>
          <a:xfrm>
            <a:off x="6217920" y="3520440"/>
            <a:ext cx="228600" cy="228600"/>
          </a:xfrm>
          <a:prstGeom prst="rect">
            <a:avLst/>
          </a:prstGeom>
          <a:solidFill>
            <a:srgbClr val="5ADF7A"/>
          </a:solidFill>
          <a:ln/>
        </p:spPr>
      </p:sp>
      <p:sp>
        <p:nvSpPr>
          <p:cNvPr id="33" name="Text 31"/>
          <p:cNvSpPr/>
          <p:nvPr/>
        </p:nvSpPr>
        <p:spPr>
          <a:xfrm>
            <a:off x="6583680" y="3474720"/>
            <a:ext cx="1828800" cy="320040"/>
          </a:xfrm>
          <a:prstGeom prst="rect">
            <a:avLst/>
          </a:prstGeom>
          <a:noFill/>
          <a:ln/>
        </p:spPr>
        <p:txBody>
          <a:bodyPr wrap="square" lIns="0" tIns="0" rIns="0" bIns="0" rtlCol="0" anchor="ctr"/>
          <a:lstStyle/>
          <a:p>
            <a:pPr indent="0" marL="0">
              <a:buNone/>
            </a:pPr>
            <a:r>
              <a:rPr lang="en-US" sz="1200" dirty="0">
                <a:solidFill>
                  <a:srgbClr val="5ADF7A"/>
                </a:solidFill>
                <a:latin typeface="Calibri" pitchFamily="34" charset="0"/>
                <a:ea typeface="Calibri" pitchFamily="34" charset="-122"/>
                <a:cs typeface="Calibri" pitchFamily="34" charset="-120"/>
              </a:rPr>
              <a:t>Kwalificatie</a:t>
            </a:r>
            <a:endParaRPr lang="en-US" sz="1200" dirty="0"/>
          </a:p>
        </p:txBody>
      </p:sp>
      <p:sp>
        <p:nvSpPr>
          <p:cNvPr id="34" name="Shape 32"/>
          <p:cNvSpPr/>
          <p:nvPr/>
        </p:nvSpPr>
        <p:spPr>
          <a:xfrm>
            <a:off x="731520" y="3931920"/>
            <a:ext cx="228600" cy="228600"/>
          </a:xfrm>
          <a:prstGeom prst="rect">
            <a:avLst/>
          </a:prstGeom>
          <a:solidFill>
            <a:srgbClr val="C87AE8"/>
          </a:solidFill>
          <a:ln/>
        </p:spPr>
      </p:sp>
      <p:sp>
        <p:nvSpPr>
          <p:cNvPr id="35" name="Text 33"/>
          <p:cNvSpPr/>
          <p:nvPr/>
        </p:nvSpPr>
        <p:spPr>
          <a:xfrm>
            <a:off x="1097280" y="3886200"/>
            <a:ext cx="1828800" cy="320040"/>
          </a:xfrm>
          <a:prstGeom prst="rect">
            <a:avLst/>
          </a:prstGeom>
          <a:noFill/>
          <a:ln/>
        </p:spPr>
        <p:txBody>
          <a:bodyPr wrap="square" lIns="0" tIns="0" rIns="0" bIns="0" rtlCol="0" anchor="ctr"/>
          <a:lstStyle/>
          <a:p>
            <a:pPr indent="0" marL="0">
              <a:buNone/>
            </a:pPr>
            <a:r>
              <a:rPr lang="en-US" sz="1200" dirty="0">
                <a:solidFill>
                  <a:srgbClr val="C87AE8"/>
                </a:solidFill>
                <a:latin typeface="Calibri" pitchFamily="34" charset="0"/>
                <a:ea typeface="Calibri" pitchFamily="34" charset="-122"/>
                <a:cs typeface="Calibri" pitchFamily="34" charset="-120"/>
              </a:rPr>
              <a:t>Persoon</a:t>
            </a:r>
            <a:endParaRPr lang="en-US" sz="1200" dirty="0"/>
          </a:p>
        </p:txBody>
      </p:sp>
      <p:sp>
        <p:nvSpPr>
          <p:cNvPr id="36" name="Shape 34"/>
          <p:cNvSpPr/>
          <p:nvPr/>
        </p:nvSpPr>
        <p:spPr>
          <a:xfrm>
            <a:off x="3474720" y="3931920"/>
            <a:ext cx="228600" cy="228600"/>
          </a:xfrm>
          <a:prstGeom prst="rect">
            <a:avLst/>
          </a:prstGeom>
          <a:solidFill>
            <a:srgbClr val="E85A5A"/>
          </a:solidFill>
          <a:ln/>
        </p:spPr>
      </p:sp>
      <p:sp>
        <p:nvSpPr>
          <p:cNvPr id="37" name="Text 35"/>
          <p:cNvSpPr/>
          <p:nvPr/>
        </p:nvSpPr>
        <p:spPr>
          <a:xfrm>
            <a:off x="3840480" y="3886200"/>
            <a:ext cx="1828800" cy="320040"/>
          </a:xfrm>
          <a:prstGeom prst="rect">
            <a:avLst/>
          </a:prstGeom>
          <a:noFill/>
          <a:ln/>
        </p:spPr>
        <p:txBody>
          <a:bodyPr wrap="square" lIns="0" tIns="0" rIns="0" bIns="0" rtlCol="0" anchor="ctr"/>
          <a:lstStyle/>
          <a:p>
            <a:pPr indent="0" marL="0">
              <a:buNone/>
            </a:pPr>
            <a:r>
              <a:rPr lang="en-US" sz="1200" dirty="0">
                <a:solidFill>
                  <a:srgbClr val="E85A5A"/>
                </a:solidFill>
                <a:latin typeface="Calibri" pitchFamily="34" charset="0"/>
                <a:ea typeface="Calibri" pitchFamily="34" charset="-122"/>
                <a:cs typeface="Calibri" pitchFamily="34" charset="-120"/>
              </a:rPr>
              <a:t>Transactie</a:t>
            </a:r>
            <a:endParaRPr lang="en-US" sz="1200" dirty="0"/>
          </a:p>
        </p:txBody>
      </p:sp>
      <p:sp>
        <p:nvSpPr>
          <p:cNvPr id="38" name="Shape 36"/>
          <p:cNvSpPr/>
          <p:nvPr/>
        </p:nvSpPr>
        <p:spPr>
          <a:xfrm>
            <a:off x="6217920" y="3931920"/>
            <a:ext cx="228600" cy="228600"/>
          </a:xfrm>
          <a:prstGeom prst="rect">
            <a:avLst/>
          </a:prstGeom>
          <a:solidFill>
            <a:srgbClr val="E87AA0"/>
          </a:solidFill>
          <a:ln/>
        </p:spPr>
      </p:sp>
      <p:sp>
        <p:nvSpPr>
          <p:cNvPr id="39" name="Text 37"/>
          <p:cNvSpPr/>
          <p:nvPr/>
        </p:nvSpPr>
        <p:spPr>
          <a:xfrm>
            <a:off x="6583680" y="3886200"/>
            <a:ext cx="1828800" cy="320040"/>
          </a:xfrm>
          <a:prstGeom prst="rect">
            <a:avLst/>
          </a:prstGeom>
          <a:noFill/>
          <a:ln/>
        </p:spPr>
        <p:txBody>
          <a:bodyPr wrap="square" lIns="0" tIns="0" rIns="0" bIns="0" rtlCol="0" anchor="ctr"/>
          <a:lstStyle/>
          <a:p>
            <a:pPr indent="0" marL="0">
              <a:buNone/>
            </a:pPr>
            <a:r>
              <a:rPr lang="en-US" sz="1200" dirty="0">
                <a:solidFill>
                  <a:srgbClr val="E87AA0"/>
                </a:solidFill>
                <a:latin typeface="Calibri" pitchFamily="34" charset="0"/>
                <a:ea typeface="Calibri" pitchFamily="34" charset="-122"/>
                <a:cs typeface="Calibri" pitchFamily="34" charset="-120"/>
              </a:rPr>
              <a:t>Maand</a:t>
            </a:r>
            <a:endParaRPr lang="en-US" sz="1200" dirty="0"/>
          </a:p>
        </p:txBody>
      </p:sp>
      <p:sp>
        <p:nvSpPr>
          <p:cNvPr id="40" name="Shape 38"/>
          <p:cNvSpPr/>
          <p:nvPr/>
        </p:nvSpPr>
        <p:spPr>
          <a:xfrm>
            <a:off x="731520" y="4343400"/>
            <a:ext cx="228600" cy="228600"/>
          </a:xfrm>
          <a:prstGeom prst="rect">
            <a:avLst/>
          </a:prstGeom>
          <a:solidFill>
            <a:srgbClr val="E8C43A"/>
          </a:solidFill>
          <a:ln/>
        </p:spPr>
      </p:sp>
      <p:sp>
        <p:nvSpPr>
          <p:cNvPr id="41" name="Text 39"/>
          <p:cNvSpPr/>
          <p:nvPr/>
        </p:nvSpPr>
        <p:spPr>
          <a:xfrm>
            <a:off x="1097280" y="4297680"/>
            <a:ext cx="1828800" cy="320040"/>
          </a:xfrm>
          <a:prstGeom prst="rect">
            <a:avLst/>
          </a:prstGeom>
          <a:noFill/>
          <a:ln/>
        </p:spPr>
        <p:txBody>
          <a:bodyPr wrap="square" lIns="0" tIns="0" rIns="0" bIns="0" rtlCol="0" anchor="ctr"/>
          <a:lstStyle/>
          <a:p>
            <a:pPr indent="0" marL="0">
              <a:buNone/>
            </a:pPr>
            <a:r>
              <a:rPr lang="en-US" sz="1200" dirty="0">
                <a:solidFill>
                  <a:srgbClr val="E8C43A"/>
                </a:solidFill>
                <a:latin typeface="Calibri" pitchFamily="34" charset="0"/>
                <a:ea typeface="Calibri" pitchFamily="34" charset="-122"/>
                <a:cs typeface="Calibri" pitchFamily="34" charset="-120"/>
              </a:rPr>
              <a:t>Godheid</a:t>
            </a:r>
            <a:endParaRPr lang="en-US" sz="1200" dirty="0"/>
          </a:p>
        </p:txBody>
      </p:sp>
      <p:sp>
        <p:nvSpPr>
          <p:cNvPr id="42" name="Shape 40"/>
          <p:cNvSpPr/>
          <p:nvPr/>
        </p:nvSpPr>
        <p:spPr>
          <a:xfrm>
            <a:off x="3474720" y="4343400"/>
            <a:ext cx="228600" cy="228600"/>
          </a:xfrm>
          <a:prstGeom prst="rect">
            <a:avLst/>
          </a:prstGeom>
          <a:solidFill>
            <a:srgbClr val="3AC4BF"/>
          </a:solidFill>
          <a:ln/>
        </p:spPr>
      </p:sp>
      <p:sp>
        <p:nvSpPr>
          <p:cNvPr id="43" name="Text 41"/>
          <p:cNvSpPr/>
          <p:nvPr/>
        </p:nvSpPr>
        <p:spPr>
          <a:xfrm>
            <a:off x="3840480" y="4297680"/>
            <a:ext cx="1828800" cy="320040"/>
          </a:xfrm>
          <a:prstGeom prst="rect">
            <a:avLst/>
          </a:prstGeom>
          <a:noFill/>
          <a:ln/>
        </p:spPr>
        <p:txBody>
          <a:bodyPr wrap="square" lIns="0" tIns="0" rIns="0" bIns="0" rtlCol="0" anchor="ctr"/>
          <a:lstStyle/>
          <a:p>
            <a:pPr indent="0" marL="0">
              <a:buNone/>
            </a:pPr>
            <a:r>
              <a:rPr lang="en-US" sz="1200" dirty="0">
                <a:solidFill>
                  <a:srgbClr val="3AC4BF"/>
                </a:solidFill>
                <a:latin typeface="Calibri" pitchFamily="34" charset="0"/>
                <a:ea typeface="Calibri" pitchFamily="34" charset="-122"/>
                <a:cs typeface="Calibri" pitchFamily="34" charset="-120"/>
              </a:rPr>
              <a:t>Rolmarkering</a:t>
            </a:r>
            <a:endParaRPr lang="en-US" sz="1200" dirty="0"/>
          </a:p>
        </p:txBody>
      </p:sp>
      <p:sp>
        <p:nvSpPr>
          <p:cNvPr id="44" name="Shape 42"/>
          <p:cNvSpPr/>
          <p:nvPr/>
        </p:nvSpPr>
        <p:spPr>
          <a:xfrm>
            <a:off x="6217920" y="4343400"/>
            <a:ext cx="228600" cy="228600"/>
          </a:xfrm>
          <a:prstGeom prst="rect">
            <a:avLst/>
          </a:prstGeom>
          <a:solidFill>
            <a:srgbClr val="5A8AE8"/>
          </a:solidFill>
          <a:ln/>
        </p:spPr>
      </p:sp>
      <p:sp>
        <p:nvSpPr>
          <p:cNvPr id="45" name="Text 43"/>
          <p:cNvSpPr/>
          <p:nvPr/>
        </p:nvSpPr>
        <p:spPr>
          <a:xfrm>
            <a:off x="6583680" y="4297680"/>
            <a:ext cx="1828800" cy="320040"/>
          </a:xfrm>
          <a:prstGeom prst="rect">
            <a:avLst/>
          </a:prstGeom>
          <a:noFill/>
          <a:ln/>
        </p:spPr>
        <p:txBody>
          <a:bodyPr wrap="square" lIns="0" tIns="0" rIns="0" bIns="0" rtlCol="0" anchor="ctr"/>
          <a:lstStyle/>
          <a:p>
            <a:pPr indent="0" marL="0">
              <a:buNone/>
            </a:pPr>
            <a:r>
              <a:rPr lang="en-US" sz="1200" dirty="0">
                <a:solidFill>
                  <a:srgbClr val="5A8AE8"/>
                </a:solidFill>
                <a:latin typeface="Calibri" pitchFamily="34" charset="0"/>
                <a:ea typeface="Calibri" pitchFamily="34" charset="-122"/>
                <a:cs typeface="Calibri" pitchFamily="34" charset="-120"/>
              </a:rPr>
              <a:t>Structuur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A204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sp>
      <p:pic>
        <p:nvPicPr>
          <p:cNvPr id="3" name="Image 0" descr="preencoded.png">    </p:cNvPr>
          <p:cNvPicPr>
            <a:picLocks noChangeAspect="1"/>
          </p:cNvPicPr>
          <p:nvPr/>
        </p:nvPicPr>
        <p:blipFill>
          <a:blip r:embed="rId1"/>
          <a:stretch>
            <a:fillRect/>
          </a:stretch>
        </p:blipFill>
        <p:spPr>
          <a:xfrm>
            <a:off x="4114800" y="1097280"/>
            <a:ext cx="914400" cy="914400"/>
          </a:xfrm>
          <a:prstGeom prst="rect">
            <a:avLst/>
          </a:prstGeom>
        </p:spPr>
      </p:pic>
      <p:sp>
        <p:nvSpPr>
          <p:cNvPr id="4" name="Text 1"/>
          <p:cNvSpPr/>
          <p:nvPr/>
        </p:nvSpPr>
        <p:spPr>
          <a:xfrm>
            <a:off x="731520" y="2103120"/>
            <a:ext cx="768096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LIVE DEMO</a:t>
            </a:r>
            <a:endParaRPr lang="en-US" sz="4800" dirty="0"/>
          </a:p>
        </p:txBody>
      </p:sp>
      <p:sp>
        <p:nvSpPr>
          <p:cNvPr id="5" name="Text 2"/>
          <p:cNvSpPr/>
          <p:nvPr/>
        </p:nvSpPr>
        <p:spPr>
          <a:xfrm>
            <a:off x="731520" y="3017520"/>
            <a:ext cx="7680960" cy="548640"/>
          </a:xfrm>
          <a:prstGeom prst="rect">
            <a:avLst/>
          </a:prstGeom>
          <a:noFill/>
          <a:ln/>
        </p:spPr>
        <p:txBody>
          <a:bodyPr wrap="square" lIns="0" tIns="0" rIns="0" bIns="0" rtlCol="0" anchor="ctr"/>
          <a:lstStyle/>
          <a:p>
            <a:pPr algn="ctr" indent="0" marL="0">
              <a:buNone/>
            </a:pPr>
            <a:r>
              <a:rPr lang="en-US" sz="2200" dirty="0">
                <a:solidFill>
                  <a:srgbClr val="4AE0B0"/>
                </a:solidFill>
                <a:latin typeface="Calibri" pitchFamily="34" charset="0"/>
                <a:ea typeface="Calibri" pitchFamily="34" charset="-122"/>
                <a:cs typeface="Calibri" pitchFamily="34" charset="-120"/>
              </a:rPr>
              <a:t>Drehem-Visualisator</a:t>
            </a:r>
            <a:endParaRPr lang="en-US" sz="2200" dirty="0"/>
          </a:p>
        </p:txBody>
      </p:sp>
      <p:sp>
        <p:nvSpPr>
          <p:cNvPr id="6" name="Text 3"/>
          <p:cNvSpPr/>
          <p:nvPr/>
        </p:nvSpPr>
        <p:spPr>
          <a:xfrm>
            <a:off x="731520" y="3657600"/>
            <a:ext cx="7680960" cy="457200"/>
          </a:xfrm>
          <a:prstGeom prst="rect">
            <a:avLst/>
          </a:prstGeom>
          <a:noFill/>
          <a:ln/>
        </p:spPr>
        <p:txBody>
          <a:bodyPr wrap="square" lIns="0" tIns="0" rIns="0" bIns="0" rtlCol="0" anchor="ctr"/>
          <a:lstStyle/>
          <a:p>
            <a:pPr algn="ctr" indent="0" marL="0">
              <a:buNone/>
            </a:pPr>
            <a:r>
              <a:rPr lang="en-US" sz="1400" i="1" dirty="0">
                <a:solidFill>
                  <a:srgbClr val="888888"/>
                </a:solidFill>
                <a:latin typeface="Calibri" pitchFamily="34" charset="0"/>
                <a:ea typeface="Calibri" pitchFamily="34" charset="-122"/>
                <a:cs typeface="Calibri" pitchFamily="34" charset="-120"/>
              </a:rPr>
              <a:t>Interactieve classificatie van tabletteksten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sp>
      <p:sp>
        <p:nvSpPr>
          <p:cNvPr id="3" name="Text 1"/>
          <p:cNvSpPr/>
          <p:nvPr/>
        </p:nvSpPr>
        <p:spPr>
          <a:xfrm>
            <a:off x="731520" y="274320"/>
            <a:ext cx="8229600" cy="640080"/>
          </a:xfrm>
          <a:prstGeom prst="rect">
            <a:avLst/>
          </a:prstGeom>
          <a:noFill/>
          <a:ln/>
        </p:spPr>
        <p:txBody>
          <a:bodyPr wrap="square" lIns="0" tIns="0" rIns="0" bIns="0" rtlCol="0" anchor="ctr"/>
          <a:lstStyle/>
          <a:p>
            <a:pPr indent="0" marL="0">
              <a:buNone/>
            </a:pPr>
            <a:r>
              <a:rPr lang="en-US" sz="3600" b="1" dirty="0">
                <a:solidFill>
                  <a:srgbClr val="3B2520"/>
                </a:solidFill>
                <a:latin typeface="Georgia" pitchFamily="34" charset="0"/>
                <a:ea typeface="Georgia" pitchFamily="34" charset="-122"/>
                <a:cs typeface="Georgia" pitchFamily="34" charset="-120"/>
              </a:rPr>
              <a:t>NUANCES EN UITZONDERINGEN</a:t>
            </a:r>
            <a:endParaRPr lang="en-US" sz="3600" dirty="0"/>
          </a:p>
        </p:txBody>
      </p:sp>
      <p:sp>
        <p:nvSpPr>
          <p:cNvPr id="4" name="Text 2"/>
          <p:cNvSpPr/>
          <p:nvPr/>
        </p:nvSpPr>
        <p:spPr>
          <a:xfrm>
            <a:off x="731520" y="822960"/>
            <a:ext cx="8229600" cy="365760"/>
          </a:xfrm>
          <a:prstGeom prst="rect">
            <a:avLst/>
          </a:prstGeom>
          <a:noFill/>
          <a:ln/>
        </p:spPr>
        <p:txBody>
          <a:bodyPr wrap="square" lIns="0" tIns="0" rIns="0" bIns="0" rtlCol="0" anchor="ctr"/>
          <a:lstStyle/>
          <a:p>
            <a:pPr indent="0" marL="0">
              <a:buNone/>
            </a:pPr>
            <a:r>
              <a:rPr lang="en-US" sz="1400" i="1" dirty="0">
                <a:solidFill>
                  <a:srgbClr val="B85042"/>
                </a:solidFill>
                <a:latin typeface="Calibri" pitchFamily="34" charset="0"/>
                <a:ea typeface="Calibri" pitchFamily="34" charset="-122"/>
                <a:cs typeface="Calibri" pitchFamily="34" charset="-120"/>
              </a:rPr>
              <a:t>De regels werken goed, totdat ze dat niet doen. Veel handmatige uitzonderingen nodig:</a:t>
            </a:r>
            <a:endParaRPr lang="en-US" sz="1400" dirty="0"/>
          </a:p>
        </p:txBody>
      </p:sp>
      <p:sp>
        <p:nvSpPr>
          <p:cNvPr id="5" name="Shape 3"/>
          <p:cNvSpPr/>
          <p:nvPr/>
        </p:nvSpPr>
        <p:spPr>
          <a:xfrm>
            <a:off x="731520" y="1280160"/>
            <a:ext cx="7680960" cy="20116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731520" y="1280160"/>
            <a:ext cx="64008" cy="2011680"/>
          </a:xfrm>
          <a:prstGeom prst="rect">
            <a:avLst/>
          </a:prstGeom>
          <a:solidFill>
            <a:srgbClr val="B85042"/>
          </a:solidFill>
          <a:ln/>
        </p:spPr>
      </p:sp>
      <p:sp>
        <p:nvSpPr>
          <p:cNvPr id="7" name="Text 5"/>
          <p:cNvSpPr/>
          <p:nvPr/>
        </p:nvSpPr>
        <p:spPr>
          <a:xfrm>
            <a:off x="1005840" y="1371600"/>
            <a:ext cx="6400800" cy="320040"/>
          </a:xfrm>
          <a:prstGeom prst="rect">
            <a:avLst/>
          </a:prstGeom>
          <a:noFill/>
          <a:ln/>
        </p:spPr>
        <p:txBody>
          <a:bodyPr wrap="square" lIns="0" tIns="0" rIns="0" bIns="0" rtlCol="0" anchor="ctr"/>
          <a:lstStyle/>
          <a:p>
            <a:pPr indent="0" marL="0">
              <a:buNone/>
            </a:pPr>
            <a:r>
              <a:rPr lang="en-US" sz="1600" b="1" dirty="0">
                <a:solidFill>
                  <a:srgbClr val="3B2520"/>
                </a:solidFill>
                <a:latin typeface="Georgia" pitchFamily="34" charset="0"/>
                <a:ea typeface="Georgia" pitchFamily="34" charset="-122"/>
                <a:cs typeface="Georgia" pitchFamily="34" charset="-120"/>
              </a:rPr>
              <a:t>Het 'amar'-probleem</a:t>
            </a:r>
            <a:endParaRPr lang="en-US" sz="1600" dirty="0"/>
          </a:p>
        </p:txBody>
      </p:sp>
      <p:sp>
        <p:nvSpPr>
          <p:cNvPr id="8" name="Text 6"/>
          <p:cNvSpPr/>
          <p:nvPr/>
        </p:nvSpPr>
        <p:spPr>
          <a:xfrm>
            <a:off x="1188720" y="1783080"/>
            <a:ext cx="6858000" cy="320040"/>
          </a:xfrm>
          <a:prstGeom prst="rect">
            <a:avLst/>
          </a:prstGeom>
          <a:noFill/>
          <a:ln/>
        </p:spPr>
        <p:txBody>
          <a:bodyPr wrap="square" lIns="0" tIns="0" rIns="0" bIns="0" rtlCol="0" anchor="ctr"/>
          <a:lstStyle/>
          <a:p>
            <a:pPr indent="0" marL="0">
              <a:buNone/>
            </a:pPr>
            <a:r>
              <a:rPr lang="en-US" sz="1200" b="1" dirty="0">
                <a:solidFill>
                  <a:srgbClr val="B85042"/>
                </a:solidFill>
                <a:latin typeface="Consolas" pitchFamily="34" charset="0"/>
                <a:ea typeface="Consolas" pitchFamily="34" charset="-122"/>
                <a:cs typeface="Consolas" pitchFamily="34" charset="-120"/>
              </a:rPr>
              <a:t>amar</a:t>
            </a:r>
            <a:pPr indent="0" marL="0">
              <a:buNone/>
            </a:pPr>
            <a:r>
              <a:rPr lang="en-US" sz="1200" dirty="0">
                <a:solidFill>
                  <a:srgbClr val="3B2520"/>
                </a:solidFill>
                <a:latin typeface="Calibri" pitchFamily="34" charset="0"/>
                <a:ea typeface="Calibri" pitchFamily="34" charset="-122"/>
                <a:cs typeface="Calibri" pitchFamily="34" charset="-120"/>
              </a:rPr>
              <a:t>  = kalf</a:t>
            </a:r>
            <a:endParaRPr lang="en-US" sz="1200" dirty="0"/>
          </a:p>
        </p:txBody>
      </p:sp>
      <p:sp>
        <p:nvSpPr>
          <p:cNvPr id="9" name="Text 7"/>
          <p:cNvSpPr/>
          <p:nvPr/>
        </p:nvSpPr>
        <p:spPr>
          <a:xfrm>
            <a:off x="1188720" y="2130552"/>
            <a:ext cx="6858000" cy="320040"/>
          </a:xfrm>
          <a:prstGeom prst="rect">
            <a:avLst/>
          </a:prstGeom>
          <a:noFill/>
          <a:ln/>
        </p:spPr>
        <p:txBody>
          <a:bodyPr wrap="square" lIns="0" tIns="0" rIns="0" bIns="0" rtlCol="0" anchor="ctr"/>
          <a:lstStyle/>
          <a:p>
            <a:pPr indent="0" marL="0">
              <a:buNone/>
            </a:pPr>
            <a:r>
              <a:rPr lang="en-US" sz="1200" b="1" dirty="0">
                <a:solidFill>
                  <a:srgbClr val="B85042"/>
                </a:solidFill>
                <a:latin typeface="Consolas" pitchFamily="34" charset="0"/>
                <a:ea typeface="Consolas" pitchFamily="34" charset="-122"/>
                <a:cs typeface="Consolas" pitchFamily="34" charset="-120"/>
              </a:rPr>
              <a:t>amar masz-da3</a:t>
            </a:r>
            <a:pPr indent="0" marL="0">
              <a:buNone/>
            </a:pPr>
            <a:r>
              <a:rPr lang="en-US" sz="1200" dirty="0">
                <a:solidFill>
                  <a:srgbClr val="3B2520"/>
                </a:solidFill>
                <a:latin typeface="Calibri" pitchFamily="34" charset="0"/>
                <a:ea typeface="Calibri" pitchFamily="34" charset="-122"/>
                <a:cs typeface="Calibri" pitchFamily="34" charset="-120"/>
              </a:rPr>
              <a:t>  = jong van een gazelle (niet apart een kalf én een gazelle!)</a:t>
            </a:r>
            <a:endParaRPr lang="en-US" sz="1200" dirty="0"/>
          </a:p>
        </p:txBody>
      </p:sp>
      <p:sp>
        <p:nvSpPr>
          <p:cNvPr id="10" name="Text 8"/>
          <p:cNvSpPr/>
          <p:nvPr/>
        </p:nvSpPr>
        <p:spPr>
          <a:xfrm>
            <a:off x="1188720" y="2478024"/>
            <a:ext cx="6858000" cy="320040"/>
          </a:xfrm>
          <a:prstGeom prst="rect">
            <a:avLst/>
          </a:prstGeom>
          <a:noFill/>
          <a:ln/>
        </p:spPr>
        <p:txBody>
          <a:bodyPr wrap="square" lIns="0" tIns="0" rIns="0" bIns="0" rtlCol="0" anchor="ctr"/>
          <a:lstStyle/>
          <a:p>
            <a:pPr indent="0" marL="0">
              <a:buNone/>
            </a:pPr>
            <a:r>
              <a:rPr lang="en-US" sz="1200" b="1" dirty="0">
                <a:solidFill>
                  <a:srgbClr val="2C5F2D"/>
                </a:solidFill>
                <a:latin typeface="Consolas" pitchFamily="34" charset="0"/>
                <a:ea typeface="Consolas" pitchFamily="34" charset="-122"/>
                <a:cs typeface="Consolas" pitchFamily="34" charset="-120"/>
              </a:rPr>
              <a:t>amar-{d}inanna</a:t>
            </a:r>
            <a:pPr indent="0" marL="0">
              <a:buNone/>
            </a:pPr>
            <a:r>
              <a:rPr lang="en-US" sz="1200" dirty="0">
                <a:solidFill>
                  <a:srgbClr val="3B2520"/>
                </a:solidFill>
                <a:latin typeface="Calibri" pitchFamily="34" charset="0"/>
                <a:ea typeface="Calibri" pitchFamily="34" charset="-122"/>
                <a:cs typeface="Calibri" pitchFamily="34" charset="-120"/>
              </a:rPr>
              <a:t>  = geen kalf, maar een persoon</a:t>
            </a:r>
            <a:endParaRPr lang="en-US" sz="1200" dirty="0"/>
          </a:p>
        </p:txBody>
      </p:sp>
      <p:sp>
        <p:nvSpPr>
          <p:cNvPr id="11" name="Text 9"/>
          <p:cNvSpPr/>
          <p:nvPr/>
        </p:nvSpPr>
        <p:spPr>
          <a:xfrm>
            <a:off x="1188720" y="2825496"/>
            <a:ext cx="6858000" cy="320040"/>
          </a:xfrm>
          <a:prstGeom prst="rect">
            <a:avLst/>
          </a:prstGeom>
          <a:noFill/>
          <a:ln/>
        </p:spPr>
        <p:txBody>
          <a:bodyPr wrap="square" lIns="0" tIns="0" rIns="0" bIns="0" rtlCol="0" anchor="ctr"/>
          <a:lstStyle/>
          <a:p>
            <a:pPr indent="0" marL="0">
              <a:buNone/>
            </a:pPr>
            <a:r>
              <a:rPr lang="en-US" sz="1200" b="1" dirty="0">
                <a:solidFill>
                  <a:srgbClr val="D4943A"/>
                </a:solidFill>
                <a:latin typeface="Consolas" pitchFamily="34" charset="0"/>
                <a:ea typeface="Consolas" pitchFamily="34" charset="-122"/>
                <a:cs typeface="Consolas" pitchFamily="34" charset="-120"/>
              </a:rPr>
              <a:t>amar {d}inanna</a:t>
            </a:r>
            <a:pPr indent="0" marL="0">
              <a:buNone/>
            </a:pPr>
            <a:r>
              <a:rPr lang="en-US" sz="1200" dirty="0">
                <a:solidFill>
                  <a:srgbClr val="3B2520"/>
                </a:solidFill>
                <a:latin typeface="Calibri" pitchFamily="34" charset="0"/>
                <a:ea typeface="Calibri" pitchFamily="34" charset="-122"/>
                <a:cs typeface="Calibri" pitchFamily="34" charset="-120"/>
              </a:rPr>
              <a:t>  = geen persoon, maar een kalf voor de god Inanna</a:t>
            </a:r>
            <a:endParaRPr lang="en-US" sz="1200" dirty="0"/>
          </a:p>
        </p:txBody>
      </p:sp>
      <p:sp>
        <p:nvSpPr>
          <p:cNvPr id="12" name="Shape 10"/>
          <p:cNvSpPr/>
          <p:nvPr/>
        </p:nvSpPr>
        <p:spPr>
          <a:xfrm>
            <a:off x="731520" y="3474720"/>
            <a:ext cx="246888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731520" y="3474720"/>
            <a:ext cx="64008" cy="1371600"/>
          </a:xfrm>
          <a:prstGeom prst="rect">
            <a:avLst/>
          </a:prstGeom>
          <a:solidFill>
            <a:srgbClr val="B85042"/>
          </a:solidFill>
          <a:ln/>
        </p:spPr>
      </p:sp>
      <p:sp>
        <p:nvSpPr>
          <p:cNvPr id="14" name="Text 12"/>
          <p:cNvSpPr/>
          <p:nvPr/>
        </p:nvSpPr>
        <p:spPr>
          <a:xfrm>
            <a:off x="914400" y="3566160"/>
            <a:ext cx="2103120" cy="320040"/>
          </a:xfrm>
          <a:prstGeom prst="rect">
            <a:avLst/>
          </a:prstGeom>
          <a:noFill/>
          <a:ln/>
        </p:spPr>
        <p:txBody>
          <a:bodyPr wrap="square" lIns="0" tIns="0" rIns="0" bIns="0" rtlCol="0" anchor="ctr"/>
          <a:lstStyle/>
          <a:p>
            <a:pPr indent="0" marL="0">
              <a:buNone/>
            </a:pPr>
            <a:r>
              <a:rPr lang="en-US" sz="1200" b="1" dirty="0">
                <a:solidFill>
                  <a:srgbClr val="3B2520"/>
                </a:solidFill>
                <a:latin typeface="Calibri" pitchFamily="34" charset="0"/>
                <a:ea typeface="Calibri" pitchFamily="34" charset="-122"/>
                <a:cs typeface="Calibri" pitchFamily="34" charset="-120"/>
              </a:rPr>
              <a:t>Beschadigde tabletten</a:t>
            </a:r>
            <a:endParaRPr lang="en-US" sz="1200" dirty="0"/>
          </a:p>
        </p:txBody>
      </p:sp>
      <p:sp>
        <p:nvSpPr>
          <p:cNvPr id="15" name="Text 13"/>
          <p:cNvSpPr/>
          <p:nvPr/>
        </p:nvSpPr>
        <p:spPr>
          <a:xfrm>
            <a:off x="914400" y="3886200"/>
            <a:ext cx="2103120" cy="868680"/>
          </a:xfrm>
          <a:prstGeom prst="rect">
            <a:avLst/>
          </a:prstGeom>
          <a:noFill/>
          <a:ln/>
        </p:spPr>
        <p:txBody>
          <a:bodyPr wrap="square" lIns="0" tIns="0" rIns="0" bIns="0" rtlCol="0" anchor="t"/>
          <a:lstStyle/>
          <a:p>
            <a:pPr indent="0" marL="0">
              <a:buNone/>
            </a:pPr>
            <a:r>
              <a:rPr lang="en-US" sz="1000" dirty="0">
                <a:solidFill>
                  <a:srgbClr val="3B2520"/>
                </a:solidFill>
                <a:latin typeface="Calibri" pitchFamily="34" charset="0"/>
                <a:ea typeface="Calibri" pitchFamily="34" charset="-122"/>
                <a:cs typeface="Calibri" pitchFamily="34" charset="-120"/>
              </a:rPr>
              <a:t>[x] en [...] markeren ontbrekende tekens. Totalen kloppen dan niet, het algoritme (en ik) moet met die onzekerheid omgaan.</a:t>
            </a:r>
            <a:endParaRPr lang="en-US" sz="1000" dirty="0"/>
          </a:p>
        </p:txBody>
      </p:sp>
      <p:sp>
        <p:nvSpPr>
          <p:cNvPr id="16" name="Shape 14"/>
          <p:cNvSpPr/>
          <p:nvPr/>
        </p:nvSpPr>
        <p:spPr>
          <a:xfrm>
            <a:off x="3474720" y="3474720"/>
            <a:ext cx="246888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7" name="Shape 15"/>
          <p:cNvSpPr/>
          <p:nvPr/>
        </p:nvSpPr>
        <p:spPr>
          <a:xfrm>
            <a:off x="3474720" y="3474720"/>
            <a:ext cx="64008" cy="1371600"/>
          </a:xfrm>
          <a:prstGeom prst="rect">
            <a:avLst/>
          </a:prstGeom>
          <a:solidFill>
            <a:srgbClr val="D4943A"/>
          </a:solidFill>
          <a:ln/>
        </p:spPr>
      </p:sp>
      <p:sp>
        <p:nvSpPr>
          <p:cNvPr id="18" name="Text 16"/>
          <p:cNvSpPr/>
          <p:nvPr/>
        </p:nvSpPr>
        <p:spPr>
          <a:xfrm>
            <a:off x="3657600" y="3566160"/>
            <a:ext cx="2103120" cy="320040"/>
          </a:xfrm>
          <a:prstGeom prst="rect">
            <a:avLst/>
          </a:prstGeom>
          <a:noFill/>
          <a:ln/>
        </p:spPr>
        <p:txBody>
          <a:bodyPr wrap="square" lIns="0" tIns="0" rIns="0" bIns="0" rtlCol="0" anchor="ctr"/>
          <a:lstStyle/>
          <a:p>
            <a:pPr indent="0" marL="0">
              <a:buNone/>
            </a:pPr>
            <a:r>
              <a:rPr lang="en-US" sz="1200" b="1" dirty="0">
                <a:solidFill>
                  <a:srgbClr val="3B2520"/>
                </a:solidFill>
                <a:latin typeface="Calibri" pitchFamily="34" charset="0"/>
                <a:ea typeface="Calibri" pitchFamily="34" charset="-122"/>
                <a:cs typeface="Calibri" pitchFamily="34" charset="-120"/>
              </a:rPr>
              <a:t>Databronverschillen</a:t>
            </a:r>
            <a:endParaRPr lang="en-US" sz="1200" dirty="0"/>
          </a:p>
        </p:txBody>
      </p:sp>
      <p:sp>
        <p:nvSpPr>
          <p:cNvPr id="19" name="Text 17"/>
          <p:cNvSpPr/>
          <p:nvPr/>
        </p:nvSpPr>
        <p:spPr>
          <a:xfrm>
            <a:off x="3657600" y="3886200"/>
            <a:ext cx="2103120" cy="868680"/>
          </a:xfrm>
          <a:prstGeom prst="rect">
            <a:avLst/>
          </a:prstGeom>
          <a:noFill/>
          <a:ln/>
        </p:spPr>
        <p:txBody>
          <a:bodyPr wrap="square" lIns="0" tIns="0" rIns="0" bIns="0" rtlCol="0" anchor="t"/>
          <a:lstStyle/>
          <a:p>
            <a:pPr indent="0" marL="0">
              <a:buNone/>
            </a:pPr>
            <a:r>
              <a:rPr lang="en-US" sz="1000" dirty="0">
                <a:solidFill>
                  <a:srgbClr val="3B2520"/>
                </a:solidFill>
                <a:latin typeface="Calibri" pitchFamily="34" charset="0"/>
                <a:ea typeface="Calibri" pitchFamily="34" charset="-122"/>
                <a:cs typeface="Calibri" pitchFamily="34" charset="-120"/>
              </a:rPr>
              <a:t>CDLI en BDTNS translitereren soms anders. De keuze van bron beïnvloedt direct het extractieresultaat.</a:t>
            </a:r>
            <a:endParaRPr lang="en-US" sz="1000" dirty="0"/>
          </a:p>
        </p:txBody>
      </p:sp>
      <p:sp>
        <p:nvSpPr>
          <p:cNvPr id="20" name="Shape 18"/>
          <p:cNvSpPr/>
          <p:nvPr/>
        </p:nvSpPr>
        <p:spPr>
          <a:xfrm>
            <a:off x="6217920" y="3474720"/>
            <a:ext cx="246888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1" name="Shape 19"/>
          <p:cNvSpPr/>
          <p:nvPr/>
        </p:nvSpPr>
        <p:spPr>
          <a:xfrm>
            <a:off x="6217920" y="3474720"/>
            <a:ext cx="64008" cy="1371600"/>
          </a:xfrm>
          <a:prstGeom prst="rect">
            <a:avLst/>
          </a:prstGeom>
          <a:solidFill>
            <a:srgbClr val="8B9A6B"/>
          </a:solidFill>
          <a:ln/>
        </p:spPr>
      </p:sp>
      <p:sp>
        <p:nvSpPr>
          <p:cNvPr id="22" name="Text 20"/>
          <p:cNvSpPr/>
          <p:nvPr/>
        </p:nvSpPr>
        <p:spPr>
          <a:xfrm>
            <a:off x="6400800" y="3566160"/>
            <a:ext cx="2103120" cy="320040"/>
          </a:xfrm>
          <a:prstGeom prst="rect">
            <a:avLst/>
          </a:prstGeom>
          <a:noFill/>
          <a:ln/>
        </p:spPr>
        <p:txBody>
          <a:bodyPr wrap="square" lIns="0" tIns="0" rIns="0" bIns="0" rtlCol="0" anchor="ctr"/>
          <a:lstStyle/>
          <a:p>
            <a:pPr indent="0" marL="0">
              <a:buNone/>
            </a:pPr>
            <a:r>
              <a:rPr lang="en-US" sz="1200" b="1" dirty="0">
                <a:solidFill>
                  <a:srgbClr val="3B2520"/>
                </a:solidFill>
                <a:latin typeface="Calibri" pitchFamily="34" charset="0"/>
                <a:ea typeface="Calibri" pitchFamily="34" charset="-122"/>
                <a:cs typeface="Calibri" pitchFamily="34" charset="-120"/>
              </a:rPr>
              <a:t>Schaal van het probleem</a:t>
            </a:r>
            <a:endParaRPr lang="en-US" sz="1200" dirty="0"/>
          </a:p>
        </p:txBody>
      </p:sp>
      <p:sp>
        <p:nvSpPr>
          <p:cNvPr id="23" name="Text 21"/>
          <p:cNvSpPr/>
          <p:nvPr/>
        </p:nvSpPr>
        <p:spPr>
          <a:xfrm>
            <a:off x="6400800" y="3886200"/>
            <a:ext cx="2103120" cy="868680"/>
          </a:xfrm>
          <a:prstGeom prst="rect">
            <a:avLst/>
          </a:prstGeom>
          <a:noFill/>
          <a:ln/>
        </p:spPr>
        <p:txBody>
          <a:bodyPr wrap="square" lIns="0" tIns="0" rIns="0" bIns="0" rtlCol="0" anchor="t"/>
          <a:lstStyle/>
          <a:p>
            <a:pPr indent="0" marL="0">
              <a:buNone/>
            </a:pPr>
            <a:r>
              <a:rPr lang="en-US" sz="1000" dirty="0">
                <a:solidFill>
                  <a:srgbClr val="3B2520"/>
                </a:solidFill>
                <a:latin typeface="Calibri" pitchFamily="34" charset="0"/>
                <a:ea typeface="Calibri" pitchFamily="34" charset="-122"/>
                <a:cs typeface="Calibri" pitchFamily="34" charset="-120"/>
              </a:rPr>
              <a:t>~10-15% van de tabletten bevat ambiguïteiten die handmatige regels vereisen. Bij 15.000 tabletten is dat een significante hoeveelheid.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B252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sp>
      <p:sp>
        <p:nvSpPr>
          <p:cNvPr id="3" name="Text 1"/>
          <p:cNvSpPr/>
          <p:nvPr/>
        </p:nvSpPr>
        <p:spPr>
          <a:xfrm>
            <a:off x="731520" y="27432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WAAROM DIT ONDERZOEK ERTOE DOET</a:t>
            </a:r>
            <a:endParaRPr lang="en-US" sz="2800" dirty="0"/>
          </a:p>
        </p:txBody>
      </p:sp>
      <p:sp>
        <p:nvSpPr>
          <p:cNvPr id="4" name="Text 2"/>
          <p:cNvSpPr/>
          <p:nvPr/>
        </p:nvSpPr>
        <p:spPr>
          <a:xfrm>
            <a:off x="731520" y="1005840"/>
            <a:ext cx="7680960" cy="822960"/>
          </a:xfrm>
          <a:prstGeom prst="rect">
            <a:avLst/>
          </a:prstGeom>
          <a:noFill/>
          <a:ln/>
        </p:spPr>
        <p:txBody>
          <a:bodyPr wrap="square" lIns="0" tIns="0" rIns="0" bIns="0" rtlCol="0" anchor="ctr"/>
          <a:lstStyle/>
          <a:p>
            <a:pPr indent="0" marL="0">
              <a:buNone/>
            </a:pPr>
            <a:r>
              <a:rPr lang="en-US" sz="1400" dirty="0">
                <a:solidFill>
                  <a:srgbClr val="F5F0E8"/>
                </a:solidFill>
                <a:latin typeface="Calibri" pitchFamily="34" charset="0"/>
                <a:ea typeface="Calibri" pitchFamily="34" charset="-122"/>
                <a:cs typeface="Calibri" pitchFamily="34" charset="-120"/>
              </a:rPr>
              <a:t>De Drehem-tabletten bevatten duizenden gedetailleerde dierentransacties, maar deze informatie is grotendeels onontsloten. Met een geautomatiseerde extractiepijplijn kunnen we op grote schaal patronen zichtbaar maken die met handmatig lezen niet te ontdekken zijn.</a:t>
            </a:r>
            <a:endParaRPr lang="en-US" sz="1400" dirty="0"/>
          </a:p>
        </p:txBody>
      </p:sp>
      <p:sp>
        <p:nvSpPr>
          <p:cNvPr id="5" name="Text 3"/>
          <p:cNvSpPr/>
          <p:nvPr/>
        </p:nvSpPr>
        <p:spPr>
          <a:xfrm>
            <a:off x="731520" y="1920240"/>
            <a:ext cx="7315200" cy="365760"/>
          </a:xfrm>
          <a:prstGeom prst="rect">
            <a:avLst/>
          </a:prstGeom>
          <a:noFill/>
          <a:ln/>
        </p:spPr>
        <p:txBody>
          <a:bodyPr wrap="square" lIns="0" tIns="0" rIns="0" bIns="0" rtlCol="0" anchor="ctr"/>
          <a:lstStyle/>
          <a:p>
            <a:pPr indent="0" marL="0">
              <a:buNone/>
            </a:pPr>
            <a:r>
              <a:rPr lang="en-US" sz="1600" b="1" dirty="0">
                <a:solidFill>
                  <a:srgbClr val="B85042"/>
                </a:solidFill>
                <a:latin typeface="Georgia" pitchFamily="34" charset="0"/>
                <a:ea typeface="Georgia" pitchFamily="34" charset="-122"/>
                <a:cs typeface="Georgia" pitchFamily="34" charset="-120"/>
              </a:rPr>
              <a:t>Wat dit toevoegt boven eerder werk:</a:t>
            </a:r>
            <a:endParaRPr lang="en-US" sz="1600" dirty="0"/>
          </a:p>
        </p:txBody>
      </p:sp>
      <p:sp>
        <p:nvSpPr>
          <p:cNvPr id="6" name="Text 4"/>
          <p:cNvSpPr/>
          <p:nvPr/>
        </p:nvSpPr>
        <p:spPr>
          <a:xfrm>
            <a:off x="731520" y="2286000"/>
            <a:ext cx="7315200" cy="100584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F5F0E8"/>
                </a:solidFill>
                <a:latin typeface="Calibri" pitchFamily="34" charset="0"/>
                <a:ea typeface="Calibri" pitchFamily="34" charset="-122"/>
                <a:cs typeface="Calibri" pitchFamily="34" charset="-120"/>
              </a:rPr>
              <a:t>Schaalbaarheid — alle 15.000 tabletten, niet een selectie</a:t>
            </a:r>
            <a:endParaRPr lang="en-US" sz="1300" dirty="0"/>
          </a:p>
          <a:p>
            <a:pPr marL="342900" indent="-342900">
              <a:spcAft>
                <a:spcPts val="600"/>
              </a:spcAft>
              <a:buSzPct val="100000"/>
              <a:buChar char="•"/>
            </a:pPr>
            <a:r>
              <a:rPr lang="en-US" sz="1300" dirty="0">
                <a:solidFill>
                  <a:srgbClr val="F5F0E8"/>
                </a:solidFill>
                <a:latin typeface="Calibri" pitchFamily="34" charset="0"/>
                <a:ea typeface="Calibri" pitchFamily="34" charset="-122"/>
                <a:cs typeface="Calibri" pitchFamily="34" charset="-120"/>
              </a:rPr>
              <a:t>Reproduceerbaarheid — elke stap is transparant en herhaalbaar</a:t>
            </a:r>
            <a:endParaRPr lang="en-US" sz="1300" dirty="0"/>
          </a:p>
          <a:p>
            <a:pPr marL="342900" indent="-342900">
              <a:buSzPct val="100000"/>
              <a:buChar char="•"/>
            </a:pPr>
            <a:r>
              <a:rPr lang="en-US" sz="1300" dirty="0">
                <a:solidFill>
                  <a:srgbClr val="F5F0E8"/>
                </a:solidFill>
                <a:latin typeface="Calibri" pitchFamily="34" charset="0"/>
                <a:ea typeface="Calibri" pitchFamily="34" charset="-122"/>
                <a:cs typeface="Calibri" pitchFamily="34" charset="-120"/>
              </a:rPr>
              <a:t>Granulariteit — diersoorten, kwalificaties, personen en datums apart ontsloten</a:t>
            </a:r>
            <a:endParaRPr lang="en-US" sz="1300" dirty="0"/>
          </a:p>
        </p:txBody>
      </p:sp>
      <p:sp>
        <p:nvSpPr>
          <p:cNvPr id="7" name="Text 5"/>
          <p:cNvSpPr/>
          <p:nvPr/>
        </p:nvSpPr>
        <p:spPr>
          <a:xfrm>
            <a:off x="731520" y="3383280"/>
            <a:ext cx="7315200" cy="365760"/>
          </a:xfrm>
          <a:prstGeom prst="rect">
            <a:avLst/>
          </a:prstGeom>
          <a:noFill/>
          <a:ln/>
        </p:spPr>
        <p:txBody>
          <a:bodyPr wrap="square" lIns="0" tIns="0" rIns="0" bIns="0" rtlCol="0" anchor="ctr"/>
          <a:lstStyle/>
          <a:p>
            <a:pPr indent="0" marL="0">
              <a:buNone/>
            </a:pPr>
            <a:r>
              <a:rPr lang="en-US" sz="1600" b="1" dirty="0">
                <a:solidFill>
                  <a:srgbClr val="B85042"/>
                </a:solidFill>
                <a:latin typeface="Georgia" pitchFamily="34" charset="0"/>
                <a:ea typeface="Georgia" pitchFamily="34" charset="-122"/>
                <a:cs typeface="Georgia" pitchFamily="34" charset="-120"/>
              </a:rPr>
              <a:t>Mogelijke scriptiefocus:</a:t>
            </a:r>
            <a:endParaRPr lang="en-US" sz="1600" dirty="0"/>
          </a:p>
        </p:txBody>
      </p:sp>
      <p:pic>
        <p:nvPicPr>
          <p:cNvPr id="8" name="Image 0" descr="preencoded.png">    </p:cNvPr>
          <p:cNvPicPr>
            <a:picLocks noChangeAspect="1"/>
          </p:cNvPicPr>
          <p:nvPr/>
        </p:nvPicPr>
        <p:blipFill>
          <a:blip r:embed="rId1"/>
          <a:stretch>
            <a:fillRect/>
          </a:stretch>
        </p:blipFill>
        <p:spPr>
          <a:xfrm>
            <a:off x="731520" y="3822192"/>
            <a:ext cx="274320" cy="274320"/>
          </a:xfrm>
          <a:prstGeom prst="rect">
            <a:avLst/>
          </a:prstGeom>
        </p:spPr>
      </p:pic>
      <p:sp>
        <p:nvSpPr>
          <p:cNvPr id="9" name="Text 6"/>
          <p:cNvSpPr/>
          <p:nvPr/>
        </p:nvSpPr>
        <p:spPr>
          <a:xfrm>
            <a:off x="1143000" y="3794760"/>
            <a:ext cx="7315200" cy="365760"/>
          </a:xfrm>
          <a:prstGeom prst="rect">
            <a:avLst/>
          </a:prstGeom>
          <a:noFill/>
          <a:ln/>
        </p:spPr>
        <p:txBody>
          <a:bodyPr wrap="square" lIns="0" tIns="0" rIns="0" bIns="0" rtlCol="0" anchor="ctr"/>
          <a:lstStyle/>
          <a:p>
            <a:pPr indent="0" marL="0">
              <a:buNone/>
            </a:pPr>
            <a:r>
              <a:rPr lang="en-US" sz="1200" dirty="0">
                <a:solidFill>
                  <a:srgbClr val="F5F0E8"/>
                </a:solidFill>
                <a:latin typeface="Calibri" pitchFamily="34" charset="0"/>
                <a:ea typeface="Calibri" pitchFamily="34" charset="-122"/>
                <a:cs typeface="Calibri" pitchFamily="34" charset="-120"/>
              </a:rPr>
              <a:t>Seizoenspatronen in offergaven — pieken in bepaalde maanden voor specifieke goden?</a:t>
            </a:r>
            <a:endParaRPr lang="en-US" sz="1200" dirty="0"/>
          </a:p>
        </p:txBody>
      </p:sp>
      <p:pic>
        <p:nvPicPr>
          <p:cNvPr id="10" name="Image 1" descr="preencoded.png">    </p:cNvPr>
          <p:cNvPicPr>
            <a:picLocks noChangeAspect="1"/>
          </p:cNvPicPr>
          <p:nvPr/>
        </p:nvPicPr>
        <p:blipFill>
          <a:blip r:embed="rId2"/>
          <a:stretch>
            <a:fillRect/>
          </a:stretch>
        </p:blipFill>
        <p:spPr>
          <a:xfrm>
            <a:off x="731520" y="4233672"/>
            <a:ext cx="274320" cy="274320"/>
          </a:xfrm>
          <a:prstGeom prst="rect">
            <a:avLst/>
          </a:prstGeom>
        </p:spPr>
      </p:pic>
      <p:sp>
        <p:nvSpPr>
          <p:cNvPr id="11" name="Text 7"/>
          <p:cNvSpPr/>
          <p:nvPr/>
        </p:nvSpPr>
        <p:spPr>
          <a:xfrm>
            <a:off x="1143000" y="4206240"/>
            <a:ext cx="7315200" cy="365760"/>
          </a:xfrm>
          <a:prstGeom prst="rect">
            <a:avLst/>
          </a:prstGeom>
          <a:noFill/>
          <a:ln/>
        </p:spPr>
        <p:txBody>
          <a:bodyPr wrap="square" lIns="0" tIns="0" rIns="0" bIns="0" rtlCol="0" anchor="ctr"/>
          <a:lstStyle/>
          <a:p>
            <a:pPr indent="0" marL="0">
              <a:buNone/>
            </a:pPr>
            <a:r>
              <a:rPr lang="en-US" sz="1200" dirty="0">
                <a:solidFill>
                  <a:srgbClr val="F5F0E8"/>
                </a:solidFill>
                <a:latin typeface="Calibri" pitchFamily="34" charset="0"/>
                <a:ea typeface="Calibri" pitchFamily="34" charset="-122"/>
                <a:cs typeface="Calibri" pitchFamily="34" charset="-120"/>
              </a:rPr>
              <a:t>Verschuiving in veestapel — verandert de samenstelling van diersoorten onder Amar-Suen vs. Šu-Suen?</a:t>
            </a:r>
            <a:endParaRPr lang="en-US" sz="1200" dirty="0"/>
          </a:p>
        </p:txBody>
      </p:sp>
      <p:pic>
        <p:nvPicPr>
          <p:cNvPr id="12" name="Image 2" descr="preencoded.png">    </p:cNvPr>
          <p:cNvPicPr>
            <a:picLocks noChangeAspect="1"/>
          </p:cNvPicPr>
          <p:nvPr/>
        </p:nvPicPr>
        <p:blipFill>
          <a:blip r:embed="rId3"/>
          <a:stretch>
            <a:fillRect/>
          </a:stretch>
        </p:blipFill>
        <p:spPr>
          <a:xfrm>
            <a:off x="731520" y="4645152"/>
            <a:ext cx="274320" cy="274320"/>
          </a:xfrm>
          <a:prstGeom prst="rect">
            <a:avLst/>
          </a:prstGeom>
        </p:spPr>
      </p:pic>
      <p:sp>
        <p:nvSpPr>
          <p:cNvPr id="13" name="Text 8"/>
          <p:cNvSpPr/>
          <p:nvPr/>
        </p:nvSpPr>
        <p:spPr>
          <a:xfrm>
            <a:off x="1143000" y="4617720"/>
            <a:ext cx="7315200" cy="365760"/>
          </a:xfrm>
          <a:prstGeom prst="rect">
            <a:avLst/>
          </a:prstGeom>
          <a:noFill/>
          <a:ln/>
        </p:spPr>
        <p:txBody>
          <a:bodyPr wrap="square" lIns="0" tIns="0" rIns="0" bIns="0" rtlCol="0" anchor="ctr"/>
          <a:lstStyle/>
          <a:p>
            <a:pPr indent="0" marL="0">
              <a:buNone/>
            </a:pPr>
            <a:r>
              <a:rPr lang="en-US" sz="1200" dirty="0">
                <a:solidFill>
                  <a:srgbClr val="F5F0E8"/>
                </a:solidFill>
                <a:latin typeface="Calibri" pitchFamily="34" charset="0"/>
                <a:ea typeface="Calibri" pitchFamily="34" charset="-122"/>
                <a:cs typeface="Calibri" pitchFamily="34" charset="-120"/>
              </a:rPr>
              <a:t>Ambtenaarnetwerken — zijn er clusters van ambtenaren die specifieke dierstromen beheren?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Dieren in Puzriš-Dagān</dc:title>
  <dc:subject>PptxGenJS Presentation</dc:subject>
  <dc:creator>Patrick Verschoor</dc:creator>
  <cp:lastModifiedBy>Patrick Verschoor</cp:lastModifiedBy>
  <cp:revision>1</cp:revision>
  <dcterms:created xsi:type="dcterms:W3CDTF">2026-03-11T07:48:40Z</dcterms:created>
  <dcterms:modified xsi:type="dcterms:W3CDTF">2026-03-11T07:48:40Z</dcterms:modified>
</cp:coreProperties>
</file>